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3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GIF"/><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7235" y="2922270"/>
            <a:ext cx="10845165" cy="946785"/>
          </a:xfrm>
        </p:spPr>
        <p:txBody>
          <a:bodyPr>
            <a:noAutofit/>
          </a:bodyPr>
          <a:lstStyle/>
          <a:p>
            <a:pPr>
              <a:lnSpc>
                <a:spcPct val="100000"/>
              </a:lnSpc>
            </a:pPr>
            <a:r>
              <a:rPr lang="en-IN" altLang="en-US" sz="3200" dirty="0">
                <a:latin typeface="Times New Roman" panose="02020603050405020304" pitchFamily="18" charset="0"/>
                <a:cs typeface="Times New Roman" panose="02020603050405020304" pitchFamily="18" charset="0"/>
              </a:rPr>
              <a:t>Evaluation-Driven RAG Framework for Grounded Research Paper Analysis</a:t>
            </a:r>
            <a:r>
              <a:rPr lang="en-US" altLang="en-US" sz="3200" dirty="0">
                <a:latin typeface="Times New Roman" panose="02020603050405020304" pitchFamily="18" charset="0"/>
                <a:cs typeface="Times New Roman" panose="02020603050405020304" pitchFamily="18" charset="0"/>
              </a:rPr>
              <a:t>.</a:t>
            </a:r>
            <a:br>
              <a:rPr lang="en-US" altLang="en-US" sz="3200" dirty="0">
                <a:latin typeface="Times New Roman" panose="02020603050405020304" pitchFamily="18" charset="0"/>
                <a:cs typeface="Times New Roman" panose="02020603050405020304" pitchFamily="18" charset="0"/>
              </a:rPr>
            </a:br>
            <a:r>
              <a:rPr lang="en-US" sz="1800" b="1" dirty="0">
                <a:solidFill>
                  <a:srgbClr val="00B050"/>
                </a:solidFill>
                <a:latin typeface="Times New Roman" panose="02020603050405020304" pitchFamily="18" charset="0"/>
                <a:cs typeface="Times New Roman" panose="02020603050405020304" pitchFamily="18" charset="0"/>
                <a:sym typeface="+mn-ea"/>
              </a:rPr>
              <a:t>Application Field : </a:t>
            </a:r>
            <a:r>
              <a:rPr lang="en-IN" altLang="en-US" sz="1800" b="1" dirty="0">
                <a:solidFill>
                  <a:srgbClr val="00B050"/>
                </a:solidFill>
                <a:latin typeface="Times New Roman" panose="02020603050405020304" pitchFamily="18" charset="0"/>
                <a:cs typeface="Times New Roman" panose="02020603050405020304" pitchFamily="18" charset="0"/>
                <a:sym typeface="+mn-ea"/>
              </a:rPr>
              <a:t>Academic Research</a:t>
            </a:r>
            <a:br>
              <a:rPr lang="en-US" sz="3200"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endParaRPr lang="en-US" sz="32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019298" y="3869735"/>
            <a:ext cx="8153401" cy="1752600"/>
          </a:xfrm>
        </p:spPr>
        <p:txBody>
          <a:bodyPr>
            <a:normAutofit/>
          </a:bodyPr>
          <a:lstStyle/>
          <a:p>
            <a:r>
              <a:rPr lang="en-US" dirty="0">
                <a:latin typeface="Times New Roman" panose="02020603050405020304" pitchFamily="18" charset="0"/>
                <a:cs typeface="Times New Roman" panose="02020603050405020304" pitchFamily="18" charset="0"/>
              </a:rPr>
              <a:t>Presented by</a:t>
            </a:r>
            <a:endParaRPr lang="en-US" dirty="0">
              <a:latin typeface="Times New Roman" panose="02020603050405020304" pitchFamily="18" charset="0"/>
              <a:cs typeface="Times New Roman" panose="02020603050405020304" pitchFamily="18" charset="0"/>
            </a:endParaRPr>
          </a:p>
          <a:p>
            <a:r>
              <a:rPr lang="en-US" b="1" dirty="0">
                <a:solidFill>
                  <a:srgbClr val="7030A0"/>
                </a:solidFill>
                <a:latin typeface="Times New Roman" panose="02020603050405020304" pitchFamily="18" charset="0"/>
                <a:cs typeface="Times New Roman" panose="02020603050405020304" pitchFamily="18" charset="0"/>
              </a:rPr>
              <a:t>  M</a:t>
            </a:r>
            <a:r>
              <a:rPr lang="en-IN" altLang="en-US" b="1" dirty="0">
                <a:solidFill>
                  <a:srgbClr val="7030A0"/>
                </a:solidFill>
                <a:latin typeface="Times New Roman" panose="02020603050405020304" pitchFamily="18" charset="0"/>
                <a:cs typeface="Times New Roman" panose="02020603050405020304" pitchFamily="18" charset="0"/>
              </a:rPr>
              <a:t>s. Manasa Kolusu</a:t>
            </a:r>
            <a:r>
              <a:rPr lang="en-US" b="1" dirty="0">
                <a:solidFill>
                  <a:srgbClr val="7030A0"/>
                </a:solidFill>
                <a:latin typeface="Times New Roman" panose="02020603050405020304" pitchFamily="18" charset="0"/>
                <a:cs typeface="Times New Roman" panose="02020603050405020304" pitchFamily="18" charset="0"/>
              </a:rPr>
              <a:t> (228W1A12</a:t>
            </a:r>
            <a:r>
              <a:rPr lang="en-IN" altLang="en-US" b="1" dirty="0">
                <a:solidFill>
                  <a:srgbClr val="7030A0"/>
                </a:solidFill>
                <a:latin typeface="Times New Roman" panose="02020603050405020304" pitchFamily="18" charset="0"/>
                <a:cs typeface="Times New Roman" panose="02020603050405020304" pitchFamily="18" charset="0"/>
              </a:rPr>
              <a:t>29</a:t>
            </a:r>
            <a:r>
              <a:rPr lang="en-US" b="1" dirty="0">
                <a:solidFill>
                  <a:srgbClr val="7030A0"/>
                </a:solidFill>
                <a:latin typeface="Times New Roman" panose="02020603050405020304" pitchFamily="18" charset="0"/>
                <a:cs typeface="Times New Roman" panose="02020603050405020304" pitchFamily="18" charset="0"/>
              </a:rPr>
              <a:t>)</a:t>
            </a:r>
            <a:endParaRPr lang="en-US" b="1" dirty="0">
              <a:solidFill>
                <a:srgbClr val="7030A0"/>
              </a:solidFill>
              <a:latin typeface="Times New Roman" panose="02020603050405020304" pitchFamily="18" charset="0"/>
              <a:cs typeface="Times New Roman" panose="02020603050405020304" pitchFamily="18" charset="0"/>
            </a:endParaRPr>
          </a:p>
          <a:p>
            <a:r>
              <a:rPr lang="en-US" b="1" dirty="0">
                <a:solidFill>
                  <a:srgbClr val="7030A0"/>
                </a:solidFill>
                <a:latin typeface="Times New Roman" panose="02020603050405020304" pitchFamily="18" charset="0"/>
                <a:cs typeface="Times New Roman" panose="02020603050405020304" pitchFamily="18" charset="0"/>
              </a:rPr>
              <a:t>M</a:t>
            </a:r>
            <a:r>
              <a:rPr lang="en-IN" altLang="en-US" b="1" dirty="0">
                <a:solidFill>
                  <a:srgbClr val="7030A0"/>
                </a:solidFill>
                <a:latin typeface="Times New Roman" panose="02020603050405020304" pitchFamily="18" charset="0"/>
                <a:cs typeface="Times New Roman" panose="02020603050405020304" pitchFamily="18" charset="0"/>
              </a:rPr>
              <a:t>r. Sreekar Movva</a:t>
            </a:r>
            <a:r>
              <a:rPr lang="en-US" b="1" dirty="0">
                <a:solidFill>
                  <a:srgbClr val="7030A0"/>
                </a:solidFill>
                <a:latin typeface="Times New Roman" panose="02020603050405020304" pitchFamily="18" charset="0"/>
                <a:cs typeface="Times New Roman" panose="02020603050405020304" pitchFamily="18" charset="0"/>
              </a:rPr>
              <a:t> (228W1A12</a:t>
            </a:r>
            <a:r>
              <a:rPr lang="en-IN" altLang="en-US" b="1" dirty="0">
                <a:solidFill>
                  <a:srgbClr val="7030A0"/>
                </a:solidFill>
                <a:latin typeface="Times New Roman" panose="02020603050405020304" pitchFamily="18" charset="0"/>
                <a:cs typeface="Times New Roman" panose="02020603050405020304" pitchFamily="18" charset="0"/>
              </a:rPr>
              <a:t>59</a:t>
            </a:r>
            <a:r>
              <a:rPr lang="en-US" b="1" dirty="0">
                <a:solidFill>
                  <a:srgbClr val="7030A0"/>
                </a:solidFill>
                <a:latin typeface="Times New Roman" panose="02020603050405020304" pitchFamily="18" charset="0"/>
                <a:cs typeface="Times New Roman" panose="02020603050405020304" pitchFamily="18" charset="0"/>
              </a:rPr>
              <a:t>)</a:t>
            </a:r>
            <a:endParaRPr lang="en-US" b="1" dirty="0">
              <a:solidFill>
                <a:srgbClr val="7030A0"/>
              </a:solidFill>
              <a:latin typeface="Times New Roman" panose="02020603050405020304" pitchFamily="18" charset="0"/>
              <a:cs typeface="Times New Roman" panose="02020603050405020304" pitchFamily="18" charset="0"/>
            </a:endParaRPr>
          </a:p>
          <a:p>
            <a:endParaRPr lang="en-US" b="1" dirty="0">
              <a:solidFill>
                <a:srgbClr val="7030A0"/>
              </a:solidFill>
              <a:latin typeface="Times New Roman" panose="02020603050405020304" pitchFamily="18" charset="0"/>
              <a:cs typeface="Times New Roman" panose="02020603050405020304" pitchFamily="18" charset="0"/>
            </a:endParaRPr>
          </a:p>
          <a:p>
            <a:endParaRPr lang="en-US" b="1" dirty="0">
              <a:solidFill>
                <a:srgbClr val="7030A0"/>
              </a:solidFill>
              <a:latin typeface="Times New Roman" panose="02020603050405020304" pitchFamily="18" charset="0"/>
              <a:cs typeface="Times New Roman" panose="02020603050405020304" pitchFamily="18" charset="0"/>
            </a:endParaRPr>
          </a:p>
          <a:p>
            <a:endParaRPr lang="en-US" dirty="0"/>
          </a:p>
        </p:txBody>
      </p:sp>
      <p:pic>
        <p:nvPicPr>
          <p:cNvPr id="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3128" y="371385"/>
            <a:ext cx="1600199" cy="866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descr="Image result for vrse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76871" y="183468"/>
            <a:ext cx="1068572" cy="12419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352799" y="425022"/>
            <a:ext cx="5486400" cy="758857"/>
          </a:xfrm>
          <a:prstGeom prst="rect">
            <a:avLst/>
          </a:prstGeom>
          <a:noFill/>
        </p:spPr>
        <p:txBody>
          <a:bodyPr wrap="square" lIns="19998" tIns="9999" rIns="19998" bIns="9999" rtlCol="0">
            <a:spAutoFit/>
          </a:bodyPr>
          <a:lstStyle/>
          <a:p>
            <a:pPr algn="ctr"/>
            <a:r>
              <a:rPr lang="en-IN" sz="2400" b="1" dirty="0">
                <a:solidFill>
                  <a:srgbClr val="0000FF"/>
                </a:solidFill>
                <a:latin typeface="Times New Roman" panose="02020603050405020304" pitchFamily="18" charset="0"/>
                <a:cs typeface="Times New Roman" panose="02020603050405020304" pitchFamily="18" charset="0"/>
              </a:rPr>
              <a:t>Department of Information Technology</a:t>
            </a:r>
            <a:endParaRPr lang="en-IN" sz="2400" b="1" dirty="0">
              <a:solidFill>
                <a:srgbClr val="0000FF"/>
              </a:solidFill>
              <a:latin typeface="Times New Roman" panose="02020603050405020304" pitchFamily="18" charset="0"/>
              <a:cs typeface="Times New Roman" panose="02020603050405020304" pitchFamily="18" charset="0"/>
            </a:endParaRPr>
          </a:p>
          <a:p>
            <a:pPr algn="ctr"/>
            <a:r>
              <a:rPr lang="en-IN" sz="2400" b="1" dirty="0">
                <a:solidFill>
                  <a:srgbClr val="FF0000"/>
                </a:solidFill>
                <a:latin typeface="Times New Roman" panose="02020603050405020304" pitchFamily="18" charset="0"/>
                <a:cs typeface="Times New Roman" panose="02020603050405020304" pitchFamily="18" charset="0"/>
              </a:rPr>
              <a:t>V R Siddhartha Engineering College </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3467098" y="2964946"/>
            <a:ext cx="5257800" cy="706755"/>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B.Tech in Information Technology</a:t>
            </a:r>
            <a:endParaRPr lang="en-US" sz="2000" b="1" dirty="0">
              <a:solidFill>
                <a:srgbClr val="FF0000"/>
              </a:solidFill>
              <a:latin typeface="Times New Roman" panose="02020603050405020304" pitchFamily="18" charset="0"/>
              <a:cs typeface="Times New Roman" panose="02020603050405020304" pitchFamily="18" charset="0"/>
            </a:endParaRPr>
          </a:p>
          <a:p>
            <a:pPr algn="ctr"/>
            <a:r>
              <a:rPr lang="en-US" sz="2000" b="1" dirty="0">
                <a:solidFill>
                  <a:srgbClr val="BF11A6"/>
                </a:solidFill>
                <a:latin typeface="Times New Roman" panose="02020603050405020304" pitchFamily="18" charset="0"/>
                <a:cs typeface="Times New Roman" panose="02020603050405020304" pitchFamily="18" charset="0"/>
              </a:rPr>
              <a:t>M</a:t>
            </a:r>
            <a:r>
              <a:rPr lang="en-IN" altLang="en-US" sz="2000" b="1" dirty="0">
                <a:solidFill>
                  <a:srgbClr val="BF11A6"/>
                </a:solidFill>
                <a:latin typeface="Times New Roman" panose="02020603050405020304" pitchFamily="18" charset="0"/>
                <a:cs typeface="Times New Roman" panose="02020603050405020304" pitchFamily="18" charset="0"/>
              </a:rPr>
              <a:t>AJOR</a:t>
            </a:r>
            <a:r>
              <a:rPr lang="en-US" sz="2000" b="1" dirty="0">
                <a:solidFill>
                  <a:srgbClr val="BF11A6"/>
                </a:solidFill>
                <a:latin typeface="Times New Roman" panose="02020603050405020304" pitchFamily="18" charset="0"/>
                <a:cs typeface="Times New Roman" panose="02020603050405020304" pitchFamily="18" charset="0"/>
              </a:rPr>
              <a:t> Project Review Presentation</a:t>
            </a:r>
            <a:endParaRPr lang="en-US" sz="2000" b="1" dirty="0">
              <a:solidFill>
                <a:srgbClr val="BF11A6"/>
              </a:solidFill>
              <a:latin typeface="Times New Roman" panose="02020603050405020304" pitchFamily="18" charset="0"/>
              <a:cs typeface="Times New Roman" panose="02020603050405020304" pitchFamily="18" charset="0"/>
            </a:endParaRPr>
          </a:p>
        </p:txBody>
      </p:sp>
      <p:sp>
        <p:nvSpPr>
          <p:cNvPr id="4" name="Rectangle 3"/>
          <p:cNvSpPr/>
          <p:nvPr/>
        </p:nvSpPr>
        <p:spPr>
          <a:xfrm>
            <a:off x="3809999" y="5622335"/>
            <a:ext cx="4572000" cy="615553"/>
          </a:xfrm>
          <a:prstGeom prst="rect">
            <a:avLst/>
          </a:prstGeom>
        </p:spPr>
        <p:txBody>
          <a:bodyPr>
            <a:spAutoFit/>
          </a:bodyPr>
          <a:lstStyle/>
          <a:p>
            <a:pPr algn="ctr"/>
            <a:r>
              <a:rPr lang="en-US" dirty="0">
                <a:latin typeface="Times New Roman" panose="02020603050405020304" pitchFamily="18" charset="0"/>
                <a:cs typeface="Times New Roman" panose="02020603050405020304" pitchFamily="18" charset="0"/>
              </a:rPr>
              <a:t>Under the guidance of </a:t>
            </a:r>
            <a:endParaRPr lang="en-US" dirty="0">
              <a:latin typeface="Times New Roman" panose="02020603050405020304" pitchFamily="18" charset="0"/>
              <a:cs typeface="Times New Roman" panose="02020603050405020304" pitchFamily="18" charset="0"/>
            </a:endParaRPr>
          </a:p>
          <a:p>
            <a:pPr algn="ctr"/>
            <a:r>
              <a:rPr lang="en-US" sz="1600" b="1" dirty="0">
                <a:solidFill>
                  <a:srgbClr val="FF0000"/>
                </a:solidFill>
                <a:latin typeface="Times New Roman" panose="02020603050405020304" pitchFamily="18" charset="0"/>
                <a:cs typeface="Times New Roman" panose="02020603050405020304" pitchFamily="18" charset="0"/>
              </a:rPr>
              <a:t>Dr. M. Suneetha, Head of the Department</a:t>
            </a:r>
            <a:endParaRPr lang="en-US" sz="16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IN" altLang="en-US" sz="2800">
                <a:latin typeface="Times New Roman" panose="02020603050405020304" pitchFamily="18" charset="0"/>
                <a:cs typeface="Times New Roman" panose="02020603050405020304" pitchFamily="18" charset="0"/>
              </a:rPr>
              <a:t>AGENDA</a:t>
            </a:r>
            <a:endParaRPr lang="en-IN" altLang="en-US" sz="280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p>
            <a:pPr algn="just"/>
            <a:r>
              <a:rPr lang="en-US" altLang="en-US" sz="2000">
                <a:latin typeface="Times New Roman" panose="02020603050405020304" pitchFamily="18" charset="0"/>
                <a:cs typeface="Times New Roman" panose="02020603050405020304" pitchFamily="18" charset="0"/>
              </a:rPr>
              <a:t>Introduction and Problem Statement</a:t>
            </a:r>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Objectives and Outcomes</a:t>
            </a:r>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Literature Review</a:t>
            </a:r>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Dataset and Requirements</a:t>
            </a:r>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Algorithms Used</a:t>
            </a:r>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Architecture Diagram</a:t>
            </a:r>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Implementation and Execution</a:t>
            </a:r>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Results and Analysis</a:t>
            </a:r>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Conclusion and Future Work</a:t>
            </a:r>
            <a:endParaRPr lang="en-US" altLang="en-US" sz="2000">
              <a:latin typeface="Times New Roman" panose="02020603050405020304" pitchFamily="18" charset="0"/>
              <a:cs typeface="Times New Roman" panose="02020603050405020304" pitchFamily="18" charset="0"/>
            </a:endParaRPr>
          </a:p>
          <a:p>
            <a:pPr algn="just"/>
            <a:r>
              <a:rPr lang="en-US" altLang="en-US" sz="2000">
                <a:latin typeface="Times New Roman" panose="02020603050405020304" pitchFamily="18" charset="0"/>
                <a:cs typeface="Times New Roman" panose="02020603050405020304" pitchFamily="18" charset="0"/>
              </a:rPr>
              <a:t>References</a:t>
            </a:r>
            <a:endParaRPr lang="en-US" altLang="en-US" sz="2000">
              <a:latin typeface="Times New Roman" panose="02020603050405020304" pitchFamily="18" charset="0"/>
              <a:cs typeface="Times New Roman" panose="02020603050405020304" pitchFamily="18" charset="0"/>
            </a:endParaRPr>
          </a:p>
          <a:p>
            <a:pPr algn="just"/>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IN" altLang="en-US" sz="3200" b="1">
                <a:latin typeface="Times New Roman" panose="02020603050405020304" pitchFamily="18" charset="0"/>
                <a:cs typeface="Times New Roman" panose="02020603050405020304" pitchFamily="18" charset="0"/>
              </a:rPr>
              <a:t>INTRODUCTION</a:t>
            </a:r>
            <a:endParaRPr lang="en-IN" altLang="en-US" sz="32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p>
            <a:pPr marL="0" indent="0" algn="just">
              <a:lnSpc>
                <a:spcPct val="150000"/>
              </a:lnSpc>
              <a:buNone/>
            </a:pPr>
            <a:r>
              <a:rPr lang="en-US" altLang="en-US" sz="2000">
                <a:latin typeface="Times New Roman" panose="02020603050405020304" pitchFamily="18" charset="0"/>
                <a:cs typeface="Times New Roman" panose="02020603050405020304" pitchFamily="18" charset="0"/>
              </a:rPr>
              <a:t>Large Language Models (LLMs) have significantly advanced the field of natural language processing by generating fluent and contextually relevant responses across a wide range of domains. These models are trained on vast amounts of data and are capable of understanding and producing human-like text. However, despite their capabilities, LLMs operate based on pre-trained knowledge and do not inherently possess access to specific documents or real-time data. This limitation becomes critical when dealing with domain-specific content such as research papers, where precise and context-aware understanding is essential.</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sym typeface="+mn-ea"/>
              </a:rPr>
              <a:t>P</a:t>
            </a:r>
            <a:r>
              <a:rPr lang="en-IN" altLang="en-US" sz="3200" b="1">
                <a:latin typeface="Times New Roman" panose="02020603050405020304" pitchFamily="18" charset="0"/>
                <a:cs typeface="Times New Roman" panose="02020603050405020304" pitchFamily="18" charset="0"/>
                <a:sym typeface="+mn-ea"/>
              </a:rPr>
              <a:t>ROBLEM STATEMENT</a:t>
            </a:r>
            <a:endParaRPr lang="en-IN" altLang="en-US" sz="3200" b="1">
              <a:latin typeface="Times New Roman" panose="02020603050405020304" pitchFamily="18" charset="0"/>
              <a:cs typeface="Times New Roman" panose="02020603050405020304" pitchFamily="18" charset="0"/>
              <a:sym typeface="+mn-ea"/>
            </a:endParaRPr>
          </a:p>
        </p:txBody>
      </p:sp>
      <p:sp>
        <p:nvSpPr>
          <p:cNvPr id="5" name="Content Placeholder 4"/>
          <p:cNvSpPr>
            <a:spLocks noGrp="1"/>
          </p:cNvSpPr>
          <p:nvPr>
            <p:ph idx="1"/>
          </p:nvPr>
        </p:nvSpPr>
        <p:spPr/>
        <p:txBody>
          <a:bodyPr/>
          <a:p>
            <a:pPr marL="0" indent="0" algn="just">
              <a:lnSpc>
                <a:spcPct val="150000"/>
              </a:lnSpc>
              <a:buNone/>
            </a:pPr>
            <a:r>
              <a:rPr lang="en-US" altLang="en-US" sz="2000">
                <a:latin typeface="Times New Roman" panose="02020603050405020304" pitchFamily="18" charset="0"/>
                <a:cs typeface="Times New Roman" panose="02020603050405020304" pitchFamily="18" charset="0"/>
              </a:rPr>
              <a:t>In academic and research environments, the use of LLMs presents a major challenge due to their tendency to generate hallucinated or unverifiable information. Since these models lack direct grounding in user-provided documents, their responses may not accurately reflect the actual content of the source material. Additionally, the absence of traceability and source attribution reduces trust in the generated outputs. To address these issues, there is a need for a system that can generate responses strictly based on document context while ensuring accuracy, transparency, and reliability. This motivates the development of an Evaluation-Driven Retrieval-Augmented Generation framework for grounded research paper analysis.</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rPr>
              <a:t>Objectives and Outcomes of the Project</a:t>
            </a:r>
            <a:endParaRPr lang="en-US" altLang="en-US" sz="3200" b="1">
              <a:latin typeface="Times New Roman" panose="02020603050405020304" pitchFamily="18" charset="0"/>
              <a:cs typeface="Times New Roman" panose="02020603050405020304" pitchFamily="18" charset="0"/>
            </a:endParaRPr>
          </a:p>
        </p:txBody>
      </p:sp>
      <p:graphicFrame>
        <p:nvGraphicFramePr>
          <p:cNvPr id="11" name="Content Placeholder 10"/>
          <p:cNvGraphicFramePr/>
          <p:nvPr>
            <p:ph idx="1"/>
            <p:custDataLst>
              <p:tags r:id="rId1"/>
            </p:custDataLst>
          </p:nvPr>
        </p:nvGraphicFramePr>
        <p:xfrm>
          <a:off x="838200" y="1825625"/>
          <a:ext cx="10515600" cy="3997960"/>
        </p:xfrm>
        <a:graphic>
          <a:graphicData uri="http://schemas.openxmlformats.org/drawingml/2006/table">
            <a:tbl>
              <a:tblPr firstRow="1" bandRow="1">
                <a:tableStyleId>{5C22544A-7EE6-4342-B048-85BDC9FD1C3A}</a:tableStyleId>
              </a:tblPr>
              <a:tblGrid>
                <a:gridCol w="5257800"/>
                <a:gridCol w="5257800"/>
              </a:tblGrid>
              <a:tr h="999490">
                <a:tc>
                  <a:txBody>
                    <a:bodyPr/>
                    <a:p>
                      <a:pPr algn="ctr">
                        <a:buNone/>
                      </a:pPr>
                      <a:r>
                        <a:rPr lang="en-IN" altLang="en-US"/>
                        <a:t>Objectives</a:t>
                      </a:r>
                      <a:endParaRPr lang="en-IN" altLang="en-US"/>
                    </a:p>
                  </a:txBody>
                  <a:tcPr anchor="ctr" anchorCtr="0"/>
                </a:tc>
                <a:tc>
                  <a:txBody>
                    <a:bodyPr/>
                    <a:p>
                      <a:pPr algn="ctr">
                        <a:buNone/>
                      </a:pPr>
                      <a:r>
                        <a:rPr lang="en-IN" altLang="en-US"/>
                        <a:t>Ooutcomes</a:t>
                      </a:r>
                      <a:endParaRPr lang="en-IN" altLang="en-US"/>
                    </a:p>
                  </a:txBody>
                  <a:tcPr anchor="ctr" anchorCtr="0"/>
                </a:tc>
              </a:tr>
              <a:tr h="999490">
                <a:tc>
                  <a:txBody>
                    <a:bodyPr/>
                    <a:p>
                      <a:pPr>
                        <a:buNone/>
                      </a:pPr>
                      <a:r>
                        <a:rPr lang="en-US" altLang="en-US"/>
                        <a:t>Preprocess, segment, and embed research papers for semantic understanding</a:t>
                      </a:r>
                      <a:endParaRPr lang="en-US" altLang="en-US"/>
                    </a:p>
                  </a:txBody>
                  <a:tcPr/>
                </a:tc>
                <a:tc>
                  <a:txBody>
                    <a:bodyPr/>
                    <a:p>
                      <a:pPr>
                        <a:buNone/>
                      </a:pPr>
                      <a:r>
                        <a:rPr lang="en-US" altLang="en-US"/>
                        <a:t>Structured vector representations enabling efficient and accurate similarity-based retrieval</a:t>
                      </a:r>
                      <a:endParaRPr lang="en-US" altLang="en-US"/>
                    </a:p>
                  </a:txBody>
                  <a:tcPr/>
                </a:tc>
              </a:tr>
              <a:tr h="999490">
                <a:tc>
                  <a:txBody>
                    <a:bodyPr/>
                    <a:p>
                      <a:pPr>
                        <a:buNone/>
                      </a:pPr>
                      <a:r>
                        <a:rPr lang="en-US" altLang="en-US"/>
                        <a:t>Design and implement an Evaluation-Driven RAG framework for document-grounded question answering</a:t>
                      </a:r>
                      <a:endParaRPr lang="en-US" altLang="en-US"/>
                    </a:p>
                  </a:txBody>
                  <a:tcPr/>
                </a:tc>
                <a:tc>
                  <a:txBody>
                    <a:bodyPr/>
                    <a:p>
                      <a:pPr>
                        <a:buNone/>
                      </a:pPr>
                      <a:r>
                        <a:rPr lang="en-US" altLang="en-US"/>
                        <a:t>A reliable research assistant capable of generating context-aware and source-backed responses</a:t>
                      </a:r>
                      <a:endParaRPr lang="en-US" altLang="en-US"/>
                    </a:p>
                  </a:txBody>
                  <a:tcPr/>
                </a:tc>
              </a:tr>
              <a:tr h="999490">
                <a:tc>
                  <a:txBody>
                    <a:bodyPr/>
                    <a:p>
                      <a:pPr>
                        <a:buNone/>
                      </a:pPr>
                      <a:r>
                        <a:rPr lang="en-US" altLang="en-US"/>
                        <a:t>Evaluate system performance using BERTScore, ROUGE, and LLM-as-a-Judge metrics</a:t>
                      </a:r>
                      <a:endParaRPr lang="en-US" altLang="en-US"/>
                    </a:p>
                  </a:txBody>
                  <a:tcPr/>
                </a:tc>
                <a:tc>
                  <a:txBody>
                    <a:bodyPr/>
                    <a:p>
                      <a:pPr>
                        <a:buNone/>
                      </a:pPr>
                      <a:r>
                        <a:rPr lang="en-US" altLang="en-US"/>
                        <a:t>Measurable improvements in accuracy, groundedness, and reduction of hallucinations</a:t>
                      </a:r>
                      <a:endParaRPr lang="en-US" altLang="en-US"/>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7315"/>
            <a:ext cx="10515600" cy="1155700"/>
          </a:xfrm>
        </p:spPr>
        <p:txBody>
          <a:bodyPr/>
          <a:p>
            <a:pPr algn="ctr"/>
            <a:r>
              <a:rPr lang="en-US" sz="3200" b="1">
                <a:latin typeface="Times New Roman" panose="02020603050405020304" pitchFamily="18" charset="0"/>
                <a:cs typeface="Times New Roman" panose="02020603050405020304" pitchFamily="18" charset="0"/>
              </a:rPr>
              <a:t>Literature </a:t>
            </a:r>
            <a:r>
              <a:rPr lang="en-IN" altLang="en-US" sz="3200" b="1">
                <a:latin typeface="Times New Roman" panose="02020603050405020304" pitchFamily="18" charset="0"/>
                <a:cs typeface="Times New Roman" panose="02020603050405020304" pitchFamily="18" charset="0"/>
              </a:rPr>
              <a:t>Review</a:t>
            </a:r>
            <a:endParaRPr lang="en-IN" altLang="en-US" sz="3200" b="1">
              <a:latin typeface="Times New Roman" panose="02020603050405020304" pitchFamily="18" charset="0"/>
              <a:cs typeface="Times New Roman" panose="02020603050405020304" pitchFamily="18" charset="0"/>
            </a:endParaRPr>
          </a:p>
        </p:txBody>
      </p:sp>
      <p:graphicFrame>
        <p:nvGraphicFramePr>
          <p:cNvPr id="6" name="Content Placeholder 5"/>
          <p:cNvGraphicFramePr/>
          <p:nvPr>
            <p:ph idx="1"/>
            <p:custDataLst>
              <p:tags r:id="rId1"/>
            </p:custDataLst>
          </p:nvPr>
        </p:nvGraphicFramePr>
        <p:xfrm>
          <a:off x="838200" y="1056005"/>
          <a:ext cx="10515600" cy="5495925"/>
        </p:xfrm>
        <a:graphic>
          <a:graphicData uri="http://schemas.openxmlformats.org/drawingml/2006/table">
            <a:tbl>
              <a:tblPr firstRow="1" bandRow="1">
                <a:tableStyleId>{5C22544A-7EE6-4342-B048-85BDC9FD1C3A}</a:tableStyleId>
              </a:tblPr>
              <a:tblGrid>
                <a:gridCol w="2628900"/>
                <a:gridCol w="2628900"/>
                <a:gridCol w="2628900"/>
                <a:gridCol w="2628900"/>
              </a:tblGrid>
              <a:tr h="723900">
                <a:tc>
                  <a:txBody>
                    <a:bodyPr/>
                    <a:p>
                      <a:pPr algn="just">
                        <a:buNone/>
                      </a:pPr>
                      <a:r>
                        <a:rPr lang="en-US" altLang="en-US">
                          <a:latin typeface="Times New Roman" panose="02020603050405020304" pitchFamily="18" charset="0"/>
                          <a:cs typeface="Times New Roman" panose="02020603050405020304" pitchFamily="18" charset="0"/>
                        </a:rPr>
                        <a:t>Title &amp; Publication</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Datasets Used</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Algorithms Used</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Result</a:t>
                      </a:r>
                      <a:endParaRPr lang="en-US" altLang="en-US">
                        <a:latin typeface="Times New Roman" panose="02020603050405020304" pitchFamily="18" charset="0"/>
                        <a:cs typeface="Times New Roman" panose="02020603050405020304" pitchFamily="18" charset="0"/>
                      </a:endParaRPr>
                    </a:p>
                  </a:txBody>
                  <a:tcPr/>
                </a:tc>
              </a:tr>
              <a:tr h="954405">
                <a:tc>
                  <a:txBody>
                    <a:bodyPr/>
                    <a:p>
                      <a:pPr algn="just">
                        <a:buNone/>
                      </a:pPr>
                      <a:r>
                        <a:rPr lang="en-US" altLang="en-US">
                          <a:latin typeface="Times New Roman" panose="02020603050405020304" pitchFamily="18" charset="0"/>
                          <a:cs typeface="Times New Roman" panose="02020603050405020304" pitchFamily="18" charset="0"/>
                        </a:rPr>
                        <a:t>Legal AI for All: Reducing Perplexity and Boosting Accuracy in Normative Texts With Fine-Tuned LLMs and RAG (IEEE Access, 2025)</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Ecuadorian Data Protection Law corpus, legal QA benchmark datasets</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Fine-Tuned LLMs (QLoRA), Retrieval-Augmented Generation (RAG), Milvus Vector DB, Dense Embeddings</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RAG outperformed fine-tuned models in factual accuracy and reduced hallucination while improving reliability in domain-specific QA</a:t>
                      </a:r>
                      <a:endParaRPr lang="en-US" altLang="en-US">
                        <a:latin typeface="Times New Roman" panose="02020603050405020304" pitchFamily="18" charset="0"/>
                        <a:cs typeface="Times New Roman" panose="02020603050405020304" pitchFamily="18" charset="0"/>
                      </a:endParaRPr>
                    </a:p>
                  </a:txBody>
                  <a:tcPr/>
                </a:tc>
              </a:tr>
              <a:tr h="954405">
                <a:tc>
                  <a:txBody>
                    <a:bodyPr/>
                    <a:p>
                      <a:pPr algn="just">
                        <a:buNone/>
                      </a:pPr>
                      <a:r>
                        <a:rPr lang="en-US" altLang="en-US">
                          <a:latin typeface="Times New Roman" panose="02020603050405020304" pitchFamily="18" charset="0"/>
                          <a:cs typeface="Times New Roman" panose="02020603050405020304" pitchFamily="18" charset="0"/>
                        </a:rPr>
                        <a:t>Evaluation of Vector Database and LLM Models in RAG Systems (UBMK 2025)</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Turkish language document datasets for retrieval benchmarking</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FAISS, Qdrant, Chroma DB, Cosine &amp; Euclidean similarity measures, LLM-based QA</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Identified optimal vector database and similarity configurations improving retrieval efficiency and RAG system reliability</a:t>
                      </a:r>
                      <a:endParaRPr lang="en-US" altLang="en-US">
                        <a:latin typeface="Times New Roman" panose="02020603050405020304" pitchFamily="18" charset="0"/>
                        <a:cs typeface="Times New Roman" panose="02020603050405020304" pitchFamily="18" charset="0"/>
                      </a:endParaRPr>
                    </a:p>
                  </a:txBody>
                  <a:tcPr/>
                </a:tc>
              </a:tr>
              <a:tr h="954405">
                <a:tc>
                  <a:txBody>
                    <a:bodyPr/>
                    <a:p>
                      <a:pPr algn="just">
                        <a:buNone/>
                      </a:pPr>
                      <a:r>
                        <a:rPr lang="en-US" altLang="en-US">
                          <a:latin typeface="Times New Roman" panose="02020603050405020304" pitchFamily="18" charset="0"/>
                          <a:cs typeface="Times New Roman" panose="02020603050405020304" pitchFamily="18" charset="0"/>
                        </a:rPr>
                        <a:t>Dynamic Query Handling with RAG Fusion for PDF-Based Knowledge Retrieval Systems (OTCON 2025)</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Domain-specific PDF document collections</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RAG Fusion, Multi-Query Retrieval, LangChain orchestration, Chroma Vector DB</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Improved contextual relevance and reduced hallucination through multi-query retrieval and dynamic query handling</a:t>
                      </a:r>
                      <a:endParaRPr lang="en-US" altLang="en-US">
                        <a:latin typeface="Times New Roman" panose="02020603050405020304" pitchFamily="18" charset="0"/>
                        <a:cs typeface="Times New Roman" panose="02020603050405020304" pitchFamily="18" charset="0"/>
                      </a:endParaRPr>
                    </a:p>
                  </a:txBody>
                  <a:tcPr/>
                </a:tc>
              </a:tr>
            </a:tbl>
          </a:graphicData>
        </a:graphic>
      </p:graphicFrame>
      <p:sp>
        <p:nvSpPr>
          <p:cNvPr id="7" name="Text Box 6"/>
          <p:cNvSpPr txBox="1"/>
          <p:nvPr/>
        </p:nvSpPr>
        <p:spPr>
          <a:xfrm>
            <a:off x="4512310" y="670560"/>
            <a:ext cx="4064000" cy="368300"/>
          </a:xfrm>
          <a:prstGeom prst="rect">
            <a:avLst/>
          </a:prstGeom>
          <a:noFill/>
        </p:spPr>
        <p:txBody>
          <a:bodyPr wrap="square" rtlCol="0">
            <a:spAutoFit/>
          </a:bodyPr>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Literature Survey</a:t>
            </a:r>
            <a:endParaRPr lang="en-US" sz="3200"/>
          </a:p>
        </p:txBody>
      </p:sp>
      <p:graphicFrame>
        <p:nvGraphicFramePr>
          <p:cNvPr id="5" name="Content Placeholder 4"/>
          <p:cNvGraphicFramePr/>
          <p:nvPr>
            <p:ph idx="1"/>
            <p:custDataLst>
              <p:tags r:id="rId1"/>
            </p:custDataLst>
          </p:nvPr>
        </p:nvGraphicFramePr>
        <p:xfrm>
          <a:off x="838200" y="1825625"/>
          <a:ext cx="10515600" cy="3566160"/>
        </p:xfrm>
        <a:graphic>
          <a:graphicData uri="http://schemas.openxmlformats.org/drawingml/2006/table">
            <a:tbl>
              <a:tblPr firstRow="1" bandRow="1">
                <a:tableStyleId>{5C22544A-7EE6-4342-B048-85BDC9FD1C3A}</a:tableStyleId>
              </a:tblPr>
              <a:tblGrid>
                <a:gridCol w="2628900"/>
                <a:gridCol w="2628900"/>
                <a:gridCol w="2628900"/>
                <a:gridCol w="2628900"/>
              </a:tblGrid>
              <a:tr h="635635">
                <a:tc>
                  <a:txBody>
                    <a:bodyPr/>
                    <a:p>
                      <a:pPr algn="just">
                        <a:buNone/>
                      </a:pPr>
                      <a:r>
                        <a:rPr lang="en-US" altLang="en-US" sz="1800">
                          <a:latin typeface="Times New Roman" panose="02020603050405020304" pitchFamily="18" charset="0"/>
                          <a:cs typeface="Times New Roman" panose="02020603050405020304" pitchFamily="18" charset="0"/>
                          <a:sym typeface="+mn-ea"/>
                        </a:rPr>
                        <a:t>Title &amp; Publication</a:t>
                      </a:r>
                      <a:endParaRPr lang="en-US" altLang="en-US" sz="1800">
                        <a:latin typeface="Times New Roman" panose="02020603050405020304" pitchFamily="18" charset="0"/>
                        <a:cs typeface="Times New Roman" panose="02020603050405020304" pitchFamily="18" charset="0"/>
                      </a:endParaRPr>
                    </a:p>
                    <a:p>
                      <a:pPr algn="just">
                        <a:buNone/>
                      </a:pPr>
                      <a:endParaRPr 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sz="1800">
                          <a:latin typeface="Times New Roman" panose="02020603050405020304" pitchFamily="18" charset="0"/>
                          <a:cs typeface="Times New Roman" panose="02020603050405020304" pitchFamily="18" charset="0"/>
                          <a:sym typeface="+mn-ea"/>
                        </a:rPr>
                        <a:t>Datasets Used</a:t>
                      </a:r>
                      <a:endParaRPr lang="en-US" altLang="en-US" sz="1800">
                        <a:latin typeface="Times New Roman" panose="02020603050405020304" pitchFamily="18" charset="0"/>
                        <a:cs typeface="Times New Roman" panose="02020603050405020304" pitchFamily="18" charset="0"/>
                        <a:sym typeface="+mn-ea"/>
                      </a:endParaRPr>
                    </a:p>
                  </a:txBody>
                  <a:tcPr/>
                </a:tc>
                <a:tc>
                  <a:txBody>
                    <a:bodyPr/>
                    <a:p>
                      <a:pPr algn="just">
                        <a:buNone/>
                      </a:pPr>
                      <a:r>
                        <a:rPr lang="en-US" altLang="en-US" sz="1800">
                          <a:latin typeface="Times New Roman" panose="02020603050405020304" pitchFamily="18" charset="0"/>
                          <a:cs typeface="Times New Roman" panose="02020603050405020304" pitchFamily="18" charset="0"/>
                          <a:sym typeface="+mn-ea"/>
                        </a:rPr>
                        <a:t>Algorithms Used</a:t>
                      </a:r>
                      <a:endParaRPr lang="en-US" altLang="en-US" sz="1800">
                        <a:latin typeface="Times New Roman" panose="02020603050405020304" pitchFamily="18" charset="0"/>
                        <a:cs typeface="Times New Roman" panose="02020603050405020304" pitchFamily="18" charset="0"/>
                      </a:endParaRPr>
                    </a:p>
                    <a:p>
                      <a:pPr algn="just">
                        <a:buNone/>
                      </a:pPr>
                      <a:endParaRPr 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sz="1800">
                          <a:latin typeface="Times New Roman" panose="02020603050405020304" pitchFamily="18" charset="0"/>
                          <a:cs typeface="Times New Roman" panose="02020603050405020304" pitchFamily="18" charset="0"/>
                          <a:sym typeface="+mn-ea"/>
                        </a:rPr>
                        <a:t>Result</a:t>
                      </a:r>
                      <a:endParaRPr lang="en-US" altLang="en-US" sz="1800">
                        <a:latin typeface="Times New Roman" panose="02020603050405020304" pitchFamily="18" charset="0"/>
                        <a:cs typeface="Times New Roman" panose="02020603050405020304" pitchFamily="18" charset="0"/>
                        <a:sym typeface="+mn-ea"/>
                      </a:endParaRPr>
                    </a:p>
                  </a:txBody>
                  <a:tcPr/>
                </a:tc>
              </a:tr>
              <a:tr h="1343660">
                <a:tc>
                  <a:txBody>
                    <a:bodyPr/>
                    <a:p>
                      <a:pPr algn="just">
                        <a:buNone/>
                      </a:pPr>
                      <a:r>
                        <a:rPr lang="en-US" altLang="en-US">
                          <a:latin typeface="Times New Roman" panose="02020603050405020304" pitchFamily="18" charset="0"/>
                          <a:cs typeface="Times New Roman" panose="02020603050405020304" pitchFamily="18" charset="0"/>
                        </a:rPr>
                        <a:t>Evaluating Hallucinations in Large Language Models: Metrics and Mitigation (INDISCON 2025)</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Benchmark text generation datasets across LLM models</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BLEU Thresholds, Semantic Similarity, Confusion Matrix, Factual Accuracy Metrics, RAG-based mitigation</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Proposed quantitative hallucination detection metrics and mitigation strategies improving trustworthiness of LLM outputs</a:t>
                      </a:r>
                      <a:endParaRPr lang="en-US" altLang="en-US">
                        <a:latin typeface="Times New Roman" panose="02020603050405020304" pitchFamily="18" charset="0"/>
                        <a:cs typeface="Times New Roman" panose="02020603050405020304" pitchFamily="18" charset="0"/>
                      </a:endParaRPr>
                    </a:p>
                  </a:txBody>
                  <a:tcPr/>
                </a:tc>
              </a:tr>
              <a:tr h="1343660">
                <a:tc>
                  <a:txBody>
                    <a:bodyPr/>
                    <a:p>
                      <a:pPr algn="just">
                        <a:buNone/>
                      </a:pPr>
                      <a:r>
                        <a:rPr lang="en-US" altLang="en-US">
                          <a:latin typeface="Times New Roman" panose="02020603050405020304" pitchFamily="18" charset="0"/>
                          <a:cs typeface="Times New Roman" panose="02020603050405020304" pitchFamily="18" charset="0"/>
                        </a:rPr>
                        <a:t>AI-Driven Solution for Analyzing and Interpreting Data from PDFs Using RAG and Hybrid Retrieval Models (RMKMATE 2025)</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Multi-document PDF datasets with metadata</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Hybrid Retrieval (Vector Embeddings + Knowledge Graphs), Semantic Search, Metadata Extraction</a:t>
                      </a:r>
                      <a:endParaRPr lang="en-US" altLang="en-US">
                        <a:latin typeface="Times New Roman" panose="02020603050405020304" pitchFamily="18" charset="0"/>
                        <a:cs typeface="Times New Roman" panose="02020603050405020304" pitchFamily="18" charset="0"/>
                      </a:endParaRPr>
                    </a:p>
                  </a:txBody>
                  <a:tcPr/>
                </a:tc>
                <a:tc>
                  <a:txBody>
                    <a:bodyPr/>
                    <a:p>
                      <a:pPr algn="just">
                        <a:buNone/>
                      </a:pPr>
                      <a:r>
                        <a:rPr lang="en-US" altLang="en-US">
                          <a:latin typeface="Times New Roman" panose="02020603050405020304" pitchFamily="18" charset="0"/>
                          <a:cs typeface="Times New Roman" panose="02020603050405020304" pitchFamily="18" charset="0"/>
                        </a:rPr>
                        <a:t>Enabled multi-document reasoning, source traceability, and contextually rich responses with citation support</a:t>
                      </a:r>
                      <a:endParaRPr lang="en-US" altLang="en-US">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sz="3200" b="1">
                <a:latin typeface="Times New Roman" panose="02020603050405020304" pitchFamily="18" charset="0"/>
                <a:cs typeface="Times New Roman" panose="02020603050405020304" pitchFamily="18" charset="0"/>
                <a:sym typeface="+mn-ea"/>
              </a:rPr>
              <a:t>Literature Survey</a:t>
            </a:r>
            <a:endParaRPr lang="en-US" sz="3200"/>
          </a:p>
        </p:txBody>
      </p:sp>
      <p:sp>
        <p:nvSpPr>
          <p:cNvPr id="5" name="Content Placeholder 4"/>
          <p:cNvSpPr>
            <a:spLocks noGrp="1"/>
          </p:cNvSpPr>
          <p:nvPr>
            <p:ph idx="1"/>
          </p:nvPr>
        </p:nvSpPr>
        <p:spPr/>
        <p:txBody>
          <a:bodyPr>
            <a:normAutofit fontScale="60000"/>
          </a:bodyPr>
          <a:p>
            <a:pPr marL="0" indent="0" algn="just">
              <a:buNone/>
            </a:pPr>
            <a:r>
              <a:rPr lang="en-US" altLang="en-US">
                <a:latin typeface="Times New Roman" panose="02020603050405020304" pitchFamily="18" charset="0"/>
                <a:cs typeface="Times New Roman" panose="02020603050405020304" pitchFamily="18" charset="0"/>
              </a:rPr>
              <a:t>The reviewed studies demonstrate that Retrieval-Augmented Generation (RAG) significantly improves the factual accuracy and reliability of Large Language Models in domain-specific applications. The work in [1] shows that RAG-based systems outperform fine-tuned LLMs by reducing hallucinations and enhancing precision in legal question answering tasks. Similarly, [3] highlights that advanced retrieval strategies such as RAG Fusion and multi-query retrieval further improve contextual relevance in document-based systems.</a:t>
            </a:r>
            <a:endParaRPr lang="en-US" altLang="en-US">
              <a:latin typeface="Times New Roman" panose="02020603050405020304" pitchFamily="18" charset="0"/>
              <a:cs typeface="Times New Roman" panose="02020603050405020304" pitchFamily="18" charset="0"/>
            </a:endParaRPr>
          </a:p>
          <a:p>
            <a:pPr marL="0" indent="0" algn="just">
              <a:buNone/>
            </a:pP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Research in [2] emphasizes the importance of vector databases and similarity measures, identifying optimal configurations that enhance retrieval efficiency and overall system performance. The study in [4] focuses on hallucination detection and evaluation metrics, reinforcing the need for quantitative methods to assess LLM outputs. Additionally, [5] demonstrates that hybrid retrieval approaches combining semantic search and metadata extraction enable multi-document reasoning and improve source traceability.</a:t>
            </a:r>
            <a:endParaRPr lang="en-US" altLang="en-US">
              <a:latin typeface="Times New Roman" panose="02020603050405020304" pitchFamily="18" charset="0"/>
              <a:cs typeface="Times New Roman" panose="02020603050405020304" pitchFamily="18" charset="0"/>
            </a:endParaRPr>
          </a:p>
          <a:p>
            <a:pPr marL="0" indent="0" algn="just">
              <a:buNone/>
            </a:pP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Overall, these works establish that combining efficient retrieval mechanisms, robust evaluation strategies, and advanced RAG architectures is essential for developing accurate, reliable, and grounded AI systems for research paper analysis.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rPr>
              <a:t>Dataset and RequirementsDataset</a:t>
            </a:r>
            <a:endParaRPr lang="en-US" altLang="en-US" sz="32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621790"/>
            <a:ext cx="10515600" cy="4351338"/>
          </a:xfrm>
        </p:spPr>
        <p:txBody>
          <a:bodyPr>
            <a:normAutofit fontScale="25000"/>
          </a:bodyPr>
          <a:p>
            <a:pPr marL="0" indent="0">
              <a:buNone/>
            </a:pPr>
            <a:r>
              <a:rPr lang="en-US" altLang="en-US" sz="6400" b="1">
                <a:latin typeface="Times New Roman" panose="02020603050405020304" pitchFamily="18" charset="0"/>
                <a:cs typeface="Times New Roman" panose="02020603050405020304" pitchFamily="18" charset="0"/>
              </a:rPr>
              <a:t>Dataset</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Input: User-uploaded research paper PDFs (single document per session)</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Document Type: Academic journal and conference papers</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Content Scope: Technical and domain-specific research content</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Preprocessing: Text extraction, section-wise segmentation, and semantic chunking (500-token chunks with overlap)</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Evaluation Dataset: 25 custom queries (in-domain and out-of-domain) for performance benchmarking</a:t>
            </a:r>
            <a:endParaRPr lang="en-US" altLang="en-US" sz="6400">
              <a:latin typeface="Times New Roman" panose="02020603050405020304" pitchFamily="18" charset="0"/>
              <a:cs typeface="Times New Roman" panose="02020603050405020304" pitchFamily="18" charset="0"/>
            </a:endParaRPr>
          </a:p>
          <a:p>
            <a:pPr marL="0" indent="0" algn="just">
              <a:buNone/>
            </a:pPr>
            <a:r>
              <a:rPr lang="en-US" altLang="en-US" sz="6400" b="1">
                <a:latin typeface="Times New Roman" panose="02020603050405020304" pitchFamily="18" charset="0"/>
                <a:cs typeface="Times New Roman" panose="02020603050405020304" pitchFamily="18" charset="0"/>
              </a:rPr>
              <a:t>Requirements</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Backend: Flask (API handling and system orchestration)</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LLM: Llama 3.3 70B via Groq API (high-speed inference)</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Embedding Model: all-MiniLM-L6-v2</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Vector Database: ChromaDB (efficient storage and retrieval)</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PDF Processing: PyPDF2</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Framework: LangChain (RAG pipeline orchestration)</a:t>
            </a:r>
            <a:endParaRPr lang="en-US" altLang="en-US" sz="6400">
              <a:latin typeface="Times New Roman" panose="02020603050405020304" pitchFamily="18" charset="0"/>
              <a:cs typeface="Times New Roman" panose="02020603050405020304" pitchFamily="18" charset="0"/>
            </a:endParaRPr>
          </a:p>
          <a:p>
            <a:pPr algn="just"/>
            <a:r>
              <a:rPr lang="en-US" altLang="en-US" sz="6400">
                <a:latin typeface="Times New Roman" panose="02020603050405020304" pitchFamily="18" charset="0"/>
                <a:cs typeface="Times New Roman" panose="02020603050405020304" pitchFamily="18" charset="0"/>
              </a:rPr>
              <a:t>Frontend: Next.js &amp; React</a:t>
            </a:r>
            <a:endParaRPr lang="en-US" altLang="en-US" sz="6400">
              <a:latin typeface="Times New Roman" panose="02020603050405020304" pitchFamily="18" charset="0"/>
              <a:cs typeface="Times New Roman" panose="02020603050405020304" pitchFamily="18" charset="0"/>
            </a:endParaRPr>
          </a:p>
          <a:p>
            <a:pPr algn="just"/>
            <a:endParaRPr lang="en-US" altLang="en-US" sz="64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rPr>
              <a:t>Algorithms used in the Project</a:t>
            </a:r>
            <a:endParaRPr lang="en-US" altLang="en-US" sz="32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80000"/>
          </a:bodyPr>
          <a:p>
            <a:pPr marL="0" indent="0">
              <a:buNone/>
            </a:pPr>
            <a:r>
              <a:rPr lang="en-US" altLang="en-US" sz="2000" b="1">
                <a:latin typeface="Times New Roman" panose="02020603050405020304" pitchFamily="18" charset="0"/>
                <a:cs typeface="Times New Roman" panose="02020603050405020304" pitchFamily="18" charset="0"/>
              </a:rPr>
              <a:t>Algorithm 1 – Document Indexing and Embedding</a:t>
            </a:r>
            <a:endParaRPr lang="en-US" altLang="en-US" sz="2000" b="1"/>
          </a:p>
          <a:p>
            <a:pPr marL="0" indent="0" algn="just">
              <a:buNone/>
            </a:pPr>
            <a:r>
              <a:rPr lang="en-US" altLang="en-US" sz="2000" b="1">
                <a:latin typeface="Times New Roman" panose="02020603050405020304" pitchFamily="18" charset="0"/>
                <a:cs typeface="Times New Roman" panose="02020603050405020304" pitchFamily="18" charset="0"/>
              </a:rPr>
              <a:t>Objective</a:t>
            </a:r>
            <a:r>
              <a:rPr lang="en-US" altLang="en-US" sz="2000">
                <a:latin typeface="Times New Roman" panose="02020603050405020304" pitchFamily="18" charset="0"/>
                <a:cs typeface="Times New Roman" panose="02020603050405020304" pitchFamily="18" charset="0"/>
              </a:rPr>
              <a:t>: Convert research paper into structured vector representations</a:t>
            </a:r>
            <a:endParaRPr lang="en-US" altLang="en-US" sz="2000">
              <a:latin typeface="Times New Roman" panose="02020603050405020304" pitchFamily="18" charset="0"/>
              <a:cs typeface="Times New Roman" panose="02020603050405020304" pitchFamily="18" charset="0"/>
            </a:endParaRPr>
          </a:p>
          <a:p>
            <a:pPr marL="0" indent="0" algn="just">
              <a:buNone/>
            </a:pPr>
            <a:r>
              <a:rPr lang="en-US" altLang="en-US" sz="2000" b="1">
                <a:latin typeface="Times New Roman" panose="02020603050405020304" pitchFamily="18" charset="0"/>
                <a:cs typeface="Times New Roman" panose="02020603050405020304" pitchFamily="18" charset="0"/>
              </a:rPr>
              <a:t>Input</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marL="0" indent="0" algn="just">
              <a:buNone/>
            </a:pPr>
            <a:r>
              <a:rPr lang="en-US" altLang="en-US" sz="2000">
                <a:latin typeface="Times New Roman" panose="02020603050405020304" pitchFamily="18" charset="0"/>
                <a:cs typeface="Times New Roman" panose="02020603050405020304" pitchFamily="18" charset="0"/>
              </a:rPr>
              <a:t>Document set D, chunk size c, overlap o, embedding model f(x)</a:t>
            </a:r>
            <a:endParaRPr lang="en-US" altLang="en-US" sz="2000">
              <a:latin typeface="Times New Roman" panose="02020603050405020304" pitchFamily="18" charset="0"/>
              <a:cs typeface="Times New Roman" panose="02020603050405020304" pitchFamily="18" charset="0"/>
            </a:endParaRPr>
          </a:p>
          <a:p>
            <a:pPr marL="0" indent="0" algn="just">
              <a:buNone/>
            </a:pPr>
            <a:r>
              <a:rPr lang="en-US" altLang="en-US" sz="2000" b="1">
                <a:latin typeface="Times New Roman" panose="02020603050405020304" pitchFamily="18" charset="0"/>
                <a:cs typeface="Times New Roman" panose="02020603050405020304" pitchFamily="18" charset="0"/>
              </a:rPr>
              <a:t>Process</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marL="342900" indent="-342900" algn="just">
              <a:buAutoNum type="arabicPeriod"/>
            </a:pPr>
            <a:r>
              <a:rPr lang="en-US" altLang="en-US" sz="2000">
                <a:latin typeface="Times New Roman" panose="02020603050405020304" pitchFamily="18" charset="0"/>
                <a:cs typeface="Times New Roman" panose="02020603050405020304" pitchFamily="18" charset="0"/>
              </a:rPr>
              <a:t>Extract text from PDF</a:t>
            </a:r>
            <a:endParaRPr lang="en-US" altLang="en-US" sz="2000">
              <a:latin typeface="Times New Roman" panose="02020603050405020304" pitchFamily="18" charset="0"/>
              <a:cs typeface="Times New Roman" panose="02020603050405020304" pitchFamily="18" charset="0"/>
            </a:endParaRPr>
          </a:p>
          <a:p>
            <a:pPr marL="342900" indent="-342900" algn="just">
              <a:buAutoNum type="arabicPeriod"/>
            </a:pPr>
            <a:r>
              <a:rPr lang="en-US" altLang="en-US" sz="2000">
                <a:latin typeface="Times New Roman" panose="02020603050405020304" pitchFamily="18" charset="0"/>
                <a:cs typeface="Times New Roman" panose="02020603050405020304" pitchFamily="18" charset="0"/>
              </a:rPr>
              <a:t>Perform section-aware semantic chunking</a:t>
            </a:r>
            <a:endParaRPr lang="en-US" altLang="en-US" sz="2000">
              <a:latin typeface="Times New Roman" panose="02020603050405020304" pitchFamily="18" charset="0"/>
              <a:cs typeface="Times New Roman" panose="02020603050405020304" pitchFamily="18" charset="0"/>
            </a:endParaRPr>
          </a:p>
          <a:p>
            <a:pPr marL="342900" indent="-342900" algn="just">
              <a:buAutoNum type="arabicPeriod"/>
            </a:pPr>
            <a:r>
              <a:rPr lang="en-US" altLang="en-US" sz="2000">
                <a:latin typeface="Times New Roman" panose="02020603050405020304" pitchFamily="18" charset="0"/>
                <a:cs typeface="Times New Roman" panose="02020603050405020304" pitchFamily="18" charset="0"/>
              </a:rPr>
              <a:t>Generate embeddings for each chunk</a:t>
            </a:r>
            <a:endParaRPr lang="en-US" altLang="en-US" sz="2000">
              <a:latin typeface="Times New Roman" panose="02020603050405020304" pitchFamily="18" charset="0"/>
              <a:cs typeface="Times New Roman" panose="02020603050405020304" pitchFamily="18" charset="0"/>
            </a:endParaRPr>
          </a:p>
          <a:p>
            <a:pPr marL="342900" indent="-342900" algn="just">
              <a:buAutoNum type="arabicPeriod"/>
            </a:pPr>
            <a:r>
              <a:rPr lang="en-US" altLang="en-US" sz="2000">
                <a:latin typeface="Times New Roman" panose="02020603050405020304" pitchFamily="18" charset="0"/>
                <a:cs typeface="Times New Roman" panose="02020603050405020304" pitchFamily="18" charset="0"/>
              </a:rPr>
              <a:t>Core Representation:</a:t>
            </a:r>
            <a:endParaRPr lang="en-US" altLang="en-US" sz="2000">
              <a:latin typeface="Times New Roman" panose="02020603050405020304" pitchFamily="18" charset="0"/>
              <a:cs typeface="Times New Roman" panose="02020603050405020304" pitchFamily="18" charset="0"/>
            </a:endParaRPr>
          </a:p>
          <a:p>
            <a:pPr marL="457200" lvl="1" indent="0" algn="just">
              <a:buNone/>
            </a:pPr>
            <a:r>
              <a:rPr lang="en-US" altLang="en-US" sz="1710">
                <a:latin typeface="Times New Roman" panose="02020603050405020304" pitchFamily="18" charset="0"/>
                <a:cs typeface="Times New Roman" panose="02020603050405020304" pitchFamily="18" charset="0"/>
              </a:rPr>
              <a:t>eij = f(Cij)</a:t>
            </a:r>
            <a:endParaRPr lang="en-US" altLang="en-US" sz="2000">
              <a:latin typeface="Times New Roman" panose="02020603050405020304" pitchFamily="18" charset="0"/>
              <a:cs typeface="Times New Roman" panose="02020603050405020304" pitchFamily="18" charset="0"/>
            </a:endParaRPr>
          </a:p>
          <a:p>
            <a:pPr marL="0" indent="0" algn="just">
              <a:buNone/>
            </a:pPr>
            <a:r>
              <a:rPr lang="en-US" altLang="en-US" sz="2000" b="1">
                <a:latin typeface="Times New Roman" panose="02020603050405020304" pitchFamily="18" charset="0"/>
                <a:cs typeface="Times New Roman" panose="02020603050405020304" pitchFamily="18" charset="0"/>
              </a:rPr>
              <a:t>Output</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marL="0" indent="0" algn="just">
              <a:buNone/>
            </a:pPr>
            <a:r>
              <a:rPr lang="en-US" altLang="en-US" sz="2000">
                <a:latin typeface="Times New Roman" panose="02020603050405020304" pitchFamily="18" charset="0"/>
                <a:cs typeface="Times New Roman" panose="02020603050405020304" pitchFamily="18" charset="0"/>
              </a:rPr>
              <a:t>Vector index V stored in vector database</a:t>
            </a:r>
            <a:r>
              <a:rPr lang="en-IN" altLang="en-US" sz="2000">
                <a:latin typeface="Times New Roman" panose="02020603050405020304" pitchFamily="18" charset="0"/>
                <a:cs typeface="Times New Roman" panose="02020603050405020304" pitchFamily="18" charset="0"/>
              </a:rPr>
              <a:t>.</a:t>
            </a:r>
            <a:endParaRPr lang="en-IN"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rPr>
              <a:t>Algorithms used in the Project</a:t>
            </a:r>
            <a:endParaRPr lang="en-US" altLang="en-US" sz="32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80000"/>
          </a:bodyPr>
          <a:p>
            <a:pPr marL="0" indent="0">
              <a:buNone/>
            </a:pPr>
            <a:r>
              <a:rPr lang="en-US" altLang="en-US" sz="2000" b="1">
                <a:latin typeface="Times New Roman" panose="02020603050405020304" pitchFamily="18" charset="0"/>
                <a:cs typeface="Times New Roman" panose="02020603050405020304" pitchFamily="18" charset="0"/>
              </a:rPr>
              <a:t>Algorithm 2 – Semantic Retrieval</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Objective</a:t>
            </a:r>
            <a:r>
              <a:rPr lang="en-US" altLang="en-US" sz="2000">
                <a:latin typeface="Times New Roman" panose="02020603050405020304" pitchFamily="18" charset="0"/>
                <a:cs typeface="Times New Roman" panose="02020603050405020304" pitchFamily="18" charset="0"/>
              </a:rPr>
              <a:t>: Retrieve most relevant document chunks for a query</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Input</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User query q, vector index V, Top-K parameter K</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Process</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a:buAutoNum type="arabicPeriod"/>
            </a:pPr>
            <a:r>
              <a:rPr lang="en-US" altLang="en-US" sz="2000">
                <a:latin typeface="Times New Roman" panose="02020603050405020304" pitchFamily="18" charset="0"/>
                <a:cs typeface="Times New Roman" panose="02020603050405020304" pitchFamily="18" charset="0"/>
              </a:rPr>
              <a:t>Convert query into embedding</a:t>
            </a:r>
            <a:endParaRPr lang="en-US" altLang="en-US" sz="2000">
              <a:latin typeface="Times New Roman" panose="02020603050405020304" pitchFamily="18" charset="0"/>
              <a:cs typeface="Times New Roman" panose="02020603050405020304" pitchFamily="18" charset="0"/>
            </a:endParaRPr>
          </a:p>
          <a:p>
            <a:pPr>
              <a:buAutoNum type="arabicPeriod"/>
            </a:pPr>
            <a:r>
              <a:rPr lang="en-US" altLang="en-US" sz="2000">
                <a:latin typeface="Times New Roman" panose="02020603050405020304" pitchFamily="18" charset="0"/>
                <a:cs typeface="Times New Roman" panose="02020603050405020304" pitchFamily="18" charset="0"/>
              </a:rPr>
              <a:t>Compute similarity with stored vectors</a:t>
            </a:r>
            <a:endParaRPr lang="en-US" altLang="en-US" sz="2000">
              <a:latin typeface="Times New Roman" panose="02020603050405020304" pitchFamily="18" charset="0"/>
              <a:cs typeface="Times New Roman" panose="02020603050405020304" pitchFamily="18" charset="0"/>
            </a:endParaRPr>
          </a:p>
          <a:p>
            <a:pPr>
              <a:buAutoNum type="arabicPeriod"/>
            </a:pPr>
            <a:r>
              <a:rPr lang="en-US" altLang="en-US" sz="2000">
                <a:latin typeface="Times New Roman" panose="02020603050405020304" pitchFamily="18" charset="0"/>
                <a:cs typeface="Times New Roman" panose="02020603050405020304" pitchFamily="18" charset="0"/>
              </a:rPr>
              <a:t>Rank and select top relevant chunks</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Core Formula</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marL="457200" lvl="1" indent="0">
              <a:buNone/>
            </a:pPr>
            <a:r>
              <a:rPr lang="en-US" altLang="en-US" sz="2000">
                <a:latin typeface="Times New Roman" panose="02020603050405020304" pitchFamily="18" charset="0"/>
                <a:cs typeface="Times New Roman" panose="02020603050405020304" pitchFamily="18" charset="0"/>
              </a:rPr>
              <a:t>si = (qv dot ei) / (norm(qv) * norm(ei))</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Output</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Top-K relevant chunk set R</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rPr>
              <a:t>Algorithms used in the Project</a:t>
            </a:r>
            <a:endParaRPr lang="en-US" altLang="en-US" sz="32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80000"/>
          </a:bodyPr>
          <a:p>
            <a:pPr marL="0" indent="0">
              <a:buNone/>
            </a:pPr>
            <a:r>
              <a:rPr lang="en-US" altLang="en-US" sz="2000" b="1">
                <a:latin typeface="Times New Roman" panose="02020603050405020304" pitchFamily="18" charset="0"/>
                <a:cs typeface="Times New Roman" panose="02020603050405020304" pitchFamily="18" charset="0"/>
              </a:rPr>
              <a:t>Algorithm 3 – Retrieval-Augmented Generation</a:t>
            </a:r>
            <a:endParaRPr lang="en-US" altLang="en-US" sz="2000" b="1">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Objective</a:t>
            </a:r>
            <a:r>
              <a:rPr lang="en-US" altLang="en-US" sz="2000">
                <a:latin typeface="Times New Roman" panose="02020603050405020304" pitchFamily="18" charset="0"/>
                <a:cs typeface="Times New Roman" panose="02020603050405020304" pitchFamily="18" charset="0"/>
              </a:rPr>
              <a:t>: Generate grounded responses using retrieved context</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Input</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Query q, retrieved chunks R, prompt template T(), LLM M()</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Process</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a:buAutoNum type="arabicPeriod"/>
            </a:pPr>
            <a:r>
              <a:rPr lang="en-US" altLang="en-US" sz="2000">
                <a:latin typeface="Times New Roman" panose="02020603050405020304" pitchFamily="18" charset="0"/>
                <a:cs typeface="Times New Roman" panose="02020603050405020304" pitchFamily="18" charset="0"/>
              </a:rPr>
              <a:t>Construct context from retrieved chunks</a:t>
            </a:r>
            <a:endParaRPr lang="en-US" altLang="en-US" sz="2000">
              <a:latin typeface="Times New Roman" panose="02020603050405020304" pitchFamily="18" charset="0"/>
              <a:cs typeface="Times New Roman" panose="02020603050405020304" pitchFamily="18" charset="0"/>
            </a:endParaRPr>
          </a:p>
          <a:p>
            <a:pPr>
              <a:buAutoNum type="arabicPeriod"/>
            </a:pPr>
            <a:r>
              <a:rPr lang="en-US" altLang="en-US" sz="2000">
                <a:latin typeface="Times New Roman" panose="02020603050405020304" pitchFamily="18" charset="0"/>
                <a:cs typeface="Times New Roman" panose="02020603050405020304" pitchFamily="18" charset="0"/>
              </a:rPr>
              <a:t>Build constrained prompt</a:t>
            </a:r>
            <a:endParaRPr lang="en-US" altLang="en-US" sz="2000">
              <a:latin typeface="Times New Roman" panose="02020603050405020304" pitchFamily="18" charset="0"/>
              <a:cs typeface="Times New Roman" panose="02020603050405020304" pitchFamily="18" charset="0"/>
            </a:endParaRPr>
          </a:p>
          <a:p>
            <a:pPr>
              <a:buAutoNum type="arabicPeriod"/>
            </a:pPr>
            <a:r>
              <a:rPr lang="en-US" altLang="en-US" sz="2000">
                <a:latin typeface="Times New Roman" panose="02020603050405020304" pitchFamily="18" charset="0"/>
                <a:cs typeface="Times New Roman" panose="02020603050405020304" pitchFamily="18" charset="0"/>
              </a:rPr>
              <a:t>Generate response using LLM</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Core Representation</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marL="457200" lvl="1" indent="0">
              <a:buNone/>
            </a:pPr>
            <a:r>
              <a:rPr lang="en-US" altLang="en-US" sz="2000">
                <a:latin typeface="Times New Roman" panose="02020603050405020304" pitchFamily="18" charset="0"/>
                <a:cs typeface="Times New Roman" panose="02020603050405020304" pitchFamily="18" charset="0"/>
              </a:rPr>
              <a:t>C = concatenate(R1, R2, ..., RK)</a:t>
            </a:r>
            <a:endParaRPr lang="en-US" altLang="en-US" sz="2000">
              <a:latin typeface="Times New Roman" panose="02020603050405020304" pitchFamily="18" charset="0"/>
              <a:cs typeface="Times New Roman" panose="02020603050405020304" pitchFamily="18" charset="0"/>
            </a:endParaRPr>
          </a:p>
          <a:p>
            <a:pPr marL="457200" lvl="1" indent="0">
              <a:buNone/>
            </a:pPr>
            <a:r>
              <a:rPr lang="en-US" altLang="en-US" sz="2000">
                <a:latin typeface="Times New Roman" panose="02020603050405020304" pitchFamily="18" charset="0"/>
                <a:cs typeface="Times New Roman" panose="02020603050405020304" pitchFamily="18" charset="0"/>
              </a:rPr>
              <a:t>y = M(T(q, C))</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b="1">
                <a:latin typeface="Times New Roman" panose="02020603050405020304" pitchFamily="18" charset="0"/>
                <a:cs typeface="Times New Roman" panose="02020603050405020304" pitchFamily="18" charset="0"/>
              </a:rPr>
              <a:t>Output</a:t>
            </a:r>
            <a:r>
              <a:rPr lang="en-US" altLang="en-US" sz="2000">
                <a:latin typeface="Times New Roman" panose="02020603050405020304" pitchFamily="18" charset="0"/>
                <a:cs typeface="Times New Roman" panose="02020603050405020304" pitchFamily="18" charset="0"/>
              </a:rPr>
              <a:t>:</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Grounded response with source references</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8200" y="51435"/>
            <a:ext cx="10515600" cy="1639570"/>
          </a:xfrm>
        </p:spPr>
        <p:txBody>
          <a:bodyPr/>
          <a:p>
            <a:pPr algn="ctr"/>
            <a:r>
              <a:rPr lang="en-US" altLang="en-US" sz="3200" b="1">
                <a:latin typeface="Times New Roman" panose="02020603050405020304" pitchFamily="18" charset="0"/>
                <a:cs typeface="Times New Roman" panose="02020603050405020304" pitchFamily="18" charset="0"/>
              </a:rPr>
              <a:t>Architecture/Project flow diagram</a:t>
            </a:r>
            <a:r>
              <a:rPr lang="en-US" altLang="en-US"/>
              <a:t> </a:t>
            </a:r>
            <a:endParaRPr lang="en-US" altLang="en-US"/>
          </a:p>
        </p:txBody>
      </p:sp>
      <p:pic>
        <p:nvPicPr>
          <p:cNvPr id="6" name="Content Placeholder 5"/>
          <p:cNvPicPr>
            <a:picLocks noChangeAspect="1"/>
          </p:cNvPicPr>
          <p:nvPr>
            <p:ph idx="1"/>
          </p:nvPr>
        </p:nvPicPr>
        <p:blipFill>
          <a:blip r:embed="rId1"/>
          <a:stretch>
            <a:fillRect/>
          </a:stretch>
        </p:blipFill>
        <p:spPr>
          <a:xfrm>
            <a:off x="1821180" y="1510665"/>
            <a:ext cx="8466455" cy="50012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rPr>
              <a:t>Implementation steps </a:t>
            </a:r>
            <a:endParaRPr lang="en-US" altLang="en-US" sz="32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p>
            <a:pPr marL="514350" indent="-514350">
              <a:lnSpc>
                <a:spcPct val="150000"/>
              </a:lnSpc>
              <a:buAutoNum type="arabicPeriod"/>
            </a:pPr>
            <a:r>
              <a:rPr lang="en-US" altLang="en-US" sz="2000">
                <a:latin typeface="Times New Roman" panose="02020603050405020304" pitchFamily="18" charset="0"/>
                <a:cs typeface="Times New Roman" panose="02020603050405020304" pitchFamily="18" charset="0"/>
              </a:rPr>
              <a:t>Upload research paper in PDF format through the frontend interface</a:t>
            </a:r>
            <a:endParaRPr lang="en-US" altLang="en-US" sz="200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en-US" altLang="en-US" sz="2000">
                <a:latin typeface="Times New Roman" panose="02020603050405020304" pitchFamily="18" charset="0"/>
                <a:cs typeface="Times New Roman" panose="02020603050405020304" pitchFamily="18" charset="0"/>
              </a:rPr>
              <a:t>Extract raw textual content from the PDF using PyPDF2</a:t>
            </a:r>
            <a:endParaRPr lang="en-US" altLang="en-US" sz="200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en-US" altLang="en-US" sz="2000">
                <a:latin typeface="Times New Roman" panose="02020603050405020304" pitchFamily="18" charset="0"/>
                <a:cs typeface="Times New Roman" panose="02020603050405020304" pitchFamily="18" charset="0"/>
              </a:rPr>
              <a:t>Identify and refine logical sections using LLM-based processing</a:t>
            </a:r>
            <a:endParaRPr lang="en-US" altLang="en-US" sz="200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en-US" altLang="en-US" sz="2000">
                <a:latin typeface="Times New Roman" panose="02020603050405020304" pitchFamily="18" charset="0"/>
                <a:cs typeface="Times New Roman" panose="02020603050405020304" pitchFamily="18" charset="0"/>
              </a:rPr>
              <a:t>Organize extracted content into structured section-wise data</a:t>
            </a:r>
            <a:endParaRPr lang="en-US" altLang="en-US" sz="200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en-US" altLang="en-US" sz="2000">
                <a:latin typeface="Times New Roman" panose="02020603050405020304" pitchFamily="18" charset="0"/>
                <a:cs typeface="Times New Roman" panose="02020603050405020304" pitchFamily="18" charset="0"/>
              </a:rPr>
              <a:t>Perform semantic chunking with fixed size and overlap to preserve context</a:t>
            </a:r>
            <a:endParaRPr lang="en-US" altLang="en-US" sz="200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en-US" altLang="en-US" sz="2000">
                <a:latin typeface="Times New Roman" panose="02020603050405020304" pitchFamily="18" charset="0"/>
                <a:cs typeface="Times New Roman" panose="02020603050405020304" pitchFamily="18" charset="0"/>
              </a:rPr>
              <a:t>Convert each chunk into dense vector embeddings using all-MiniLM-L6-v2 model</a:t>
            </a:r>
            <a:endParaRPr lang="en-US" altLang="en-US" sz="2000">
              <a:latin typeface="Times New Roman" panose="02020603050405020304" pitchFamily="18" charset="0"/>
              <a:cs typeface="Times New Roman" panose="02020603050405020304" pitchFamily="18" charset="0"/>
            </a:endParaRPr>
          </a:p>
          <a:p>
            <a:pPr marL="514350" indent="-514350">
              <a:lnSpc>
                <a:spcPct val="150000"/>
              </a:lnSpc>
              <a:buAutoNum type="arabicPeriod"/>
            </a:pPr>
            <a:r>
              <a:rPr lang="en-US" altLang="en-US" sz="2000">
                <a:latin typeface="Times New Roman" panose="02020603050405020304" pitchFamily="18" charset="0"/>
                <a:cs typeface="Times New Roman" panose="02020603050405020304" pitchFamily="18" charset="0"/>
              </a:rPr>
              <a:t>Prepare embedding data for storage in vector database</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sym typeface="+mn-ea"/>
              </a:rPr>
              <a:t>Execution</a:t>
            </a:r>
            <a:r>
              <a:rPr lang="en-IN" altLang="en-US" sz="3200" b="1">
                <a:latin typeface="Times New Roman" panose="02020603050405020304" pitchFamily="18" charset="0"/>
                <a:cs typeface="Times New Roman" panose="02020603050405020304" pitchFamily="18" charset="0"/>
                <a:sym typeface="+mn-ea"/>
              </a:rPr>
              <a:t> Flow</a:t>
            </a:r>
            <a:endParaRPr lang="en-IN" altLang="en-US" sz="3200" b="1">
              <a:latin typeface="Times New Roman" panose="02020603050405020304" pitchFamily="18" charset="0"/>
              <a:cs typeface="Times New Roman" panose="02020603050405020304" pitchFamily="18" charset="0"/>
              <a:sym typeface="+mn-ea"/>
            </a:endParaRPr>
          </a:p>
        </p:txBody>
      </p:sp>
      <p:sp>
        <p:nvSpPr>
          <p:cNvPr id="5" name="Content Placeholder 4"/>
          <p:cNvSpPr>
            <a:spLocks noGrp="1"/>
          </p:cNvSpPr>
          <p:nvPr>
            <p:ph idx="1"/>
          </p:nvPr>
        </p:nvSpPr>
        <p:spPr/>
        <p:txBody>
          <a:bodyPr>
            <a:noAutofit/>
          </a:bodyPr>
          <a:p>
            <a:pPr marL="342900" indent="-342900" algn="just">
              <a:lnSpc>
                <a:spcPct val="150000"/>
              </a:lnSpc>
              <a:buAutoNum type="arabicPeriod"/>
            </a:pPr>
            <a:r>
              <a:rPr lang="en-US" altLang="en-US" sz="1500">
                <a:latin typeface="Times New Roman" panose="02020603050405020304" pitchFamily="18" charset="0"/>
                <a:cs typeface="Times New Roman" panose="02020603050405020304" pitchFamily="18" charset="0"/>
              </a:rPr>
              <a:t>Store generated embeddings in ChromaDB for efficient retrieval</a:t>
            </a:r>
            <a:endParaRPr lang="en-US" altLang="en-US" sz="150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altLang="en-US" sz="1500">
                <a:latin typeface="Times New Roman" panose="02020603050405020304" pitchFamily="18" charset="0"/>
                <a:cs typeface="Times New Roman" panose="02020603050405020304" pitchFamily="18" charset="0"/>
              </a:rPr>
              <a:t>Accept user query related to the uploaded research paper</a:t>
            </a:r>
            <a:endParaRPr lang="en-US" altLang="en-US" sz="150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altLang="en-US" sz="1500">
                <a:latin typeface="Times New Roman" panose="02020603050405020304" pitchFamily="18" charset="0"/>
                <a:cs typeface="Times New Roman" panose="02020603050405020304" pitchFamily="18" charset="0"/>
              </a:rPr>
              <a:t>Convert user query into embedding using the same embedding model</a:t>
            </a:r>
            <a:endParaRPr lang="en-US" altLang="en-US" sz="150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altLang="en-US" sz="1500">
                <a:latin typeface="Times New Roman" panose="02020603050405020304" pitchFamily="18" charset="0"/>
                <a:cs typeface="Times New Roman" panose="02020603050405020304" pitchFamily="18" charset="0"/>
              </a:rPr>
              <a:t>Compute cosine similarity between query and stored embeddings</a:t>
            </a:r>
            <a:endParaRPr lang="en-US" altLang="en-US" sz="150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altLang="en-US" sz="1500">
                <a:latin typeface="Times New Roman" panose="02020603050405020304" pitchFamily="18" charset="0"/>
                <a:cs typeface="Times New Roman" panose="02020603050405020304" pitchFamily="18" charset="0"/>
              </a:rPr>
              <a:t>Retrieve top-K most relevant chunks based on similarity scores</a:t>
            </a:r>
            <a:endParaRPr lang="en-US" altLang="en-US" sz="150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altLang="en-US" sz="1500">
                <a:latin typeface="Times New Roman" panose="02020603050405020304" pitchFamily="18" charset="0"/>
                <a:cs typeface="Times New Roman" panose="02020603050405020304" pitchFamily="18" charset="0"/>
              </a:rPr>
              <a:t>Construct a structured prompt combining query and retrieved context</a:t>
            </a:r>
            <a:endParaRPr lang="en-US" altLang="en-US" sz="150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altLang="en-US" sz="1500">
                <a:latin typeface="Times New Roman" panose="02020603050405020304" pitchFamily="18" charset="0"/>
                <a:cs typeface="Times New Roman" panose="02020603050405020304" pitchFamily="18" charset="0"/>
              </a:rPr>
              <a:t>Generate response using Llama 3.3 via Groq API</a:t>
            </a:r>
            <a:endParaRPr lang="en-US" altLang="en-US" sz="150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altLang="en-US" sz="1500">
                <a:latin typeface="Times New Roman" panose="02020603050405020304" pitchFamily="18" charset="0"/>
                <a:cs typeface="Times New Roman" panose="02020603050405020304" pitchFamily="18" charset="0"/>
              </a:rPr>
              <a:t>Attach source references corresponding to retrieved chunks</a:t>
            </a:r>
            <a:endParaRPr lang="en-US" altLang="en-US" sz="150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altLang="en-US" sz="1500">
                <a:latin typeface="Times New Roman" panose="02020603050405020304" pitchFamily="18" charset="0"/>
                <a:cs typeface="Times New Roman" panose="02020603050405020304" pitchFamily="18" charset="0"/>
              </a:rPr>
              <a:t>Evaluate response quality using BERTScore, ROUGE, and LLM-as-a-Judge metrics</a:t>
            </a:r>
            <a:endParaRPr lang="en-US" altLang="en-US" sz="150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altLang="en-US" sz="1500">
                <a:latin typeface="Times New Roman" panose="02020603050405020304" pitchFamily="18" charset="0"/>
                <a:cs typeface="Times New Roman" panose="02020603050405020304" pitchFamily="18" charset="0"/>
              </a:rPr>
              <a:t>Return final grounded and concise response to the user</a:t>
            </a:r>
            <a:endParaRPr lang="en-US" altLang="en-US" sz="15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8200" y="232410"/>
            <a:ext cx="10515600" cy="1383665"/>
          </a:xfrm>
        </p:spPr>
        <p:txBody>
          <a:bodyPr/>
          <a:p>
            <a:pPr algn="ctr"/>
            <a:r>
              <a:rPr lang="en-US" altLang="en-US" b="1">
                <a:latin typeface="Calibri Light" panose="020F0302020204030204" charset="0"/>
                <a:cs typeface="Calibri Light" panose="020F0302020204030204" charset="0"/>
              </a:rPr>
              <a:t>Results obtained</a:t>
            </a:r>
            <a:endParaRPr lang="en-US" altLang="en-US" b="1">
              <a:latin typeface="Calibri Light" panose="020F0302020204030204" charset="0"/>
              <a:cs typeface="Calibri Light" panose="020F0302020204030204" charset="0"/>
            </a:endParaRPr>
          </a:p>
        </p:txBody>
      </p:sp>
      <p:pic>
        <p:nvPicPr>
          <p:cNvPr id="6" name="Picture 5"/>
          <p:cNvPicPr/>
          <p:nvPr/>
        </p:nvPicPr>
        <p:blipFill>
          <a:blip r:embed="rId1">
            <a:extLst>
              <a:ext uri="{96DAC541-7B7A-43D3-8B79-37D633B846F1}">
                <asvg:svgBlip xmlns:asvg="http://schemas.microsoft.com/office/drawing/2016/SVG/main" r:embed="rId2"/>
              </a:ext>
            </a:extLst>
          </a:blip>
          <a:stretch>
            <a:fillRect/>
          </a:stretch>
        </p:blipFill>
        <p:spPr>
          <a:xfrm>
            <a:off x="5905500" y="3238500"/>
            <a:ext cx="381000" cy="381000"/>
          </a:xfrm>
          <a:prstGeom prst="rect">
            <a:avLst/>
          </a:prstGeom>
        </p:spPr>
      </p:pic>
      <p:pic>
        <p:nvPicPr>
          <p:cNvPr id="7" name="Picture 6"/>
          <p:cNvPicPr/>
          <p:nvPr/>
        </p:nvPicPr>
        <p:blipFill>
          <a:blip r:embed="rId1">
            <a:extLst>
              <a:ext uri="{96DAC541-7B7A-43D3-8B79-37D633B846F1}">
                <asvg:svgBlip xmlns:asvg="http://schemas.microsoft.com/office/drawing/2016/SVG/main" r:embed="rId2"/>
              </a:ext>
            </a:extLst>
          </a:blip>
          <a:stretch>
            <a:fillRect/>
          </a:stretch>
        </p:blipFill>
        <p:spPr>
          <a:xfrm>
            <a:off x="5905500" y="3238500"/>
            <a:ext cx="381000" cy="381000"/>
          </a:xfrm>
          <a:prstGeom prst="rect">
            <a:avLst/>
          </a:prstGeom>
        </p:spPr>
      </p:pic>
      <p:pic>
        <p:nvPicPr>
          <p:cNvPr id="8" name="Picture 7" descr="bertscore_comparison_bar"/>
          <p:cNvPicPr>
            <a:picLocks noChangeAspect="1"/>
          </p:cNvPicPr>
          <p:nvPr/>
        </p:nvPicPr>
        <p:blipFill>
          <a:blip r:embed="rId3"/>
          <a:stretch>
            <a:fillRect/>
          </a:stretch>
        </p:blipFill>
        <p:spPr>
          <a:xfrm>
            <a:off x="651510" y="1492250"/>
            <a:ext cx="4084320" cy="3014980"/>
          </a:xfrm>
          <a:prstGeom prst="rect">
            <a:avLst/>
          </a:prstGeom>
        </p:spPr>
      </p:pic>
      <p:pic>
        <p:nvPicPr>
          <p:cNvPr id="9" name="Picture 8" descr="rouge_vs_bertscore_bar"/>
          <p:cNvPicPr>
            <a:picLocks noChangeAspect="1"/>
          </p:cNvPicPr>
          <p:nvPr/>
        </p:nvPicPr>
        <p:blipFill>
          <a:blip r:embed="rId4"/>
          <a:stretch>
            <a:fillRect/>
          </a:stretch>
        </p:blipFill>
        <p:spPr>
          <a:xfrm>
            <a:off x="5621655" y="1492250"/>
            <a:ext cx="4629785" cy="2778125"/>
          </a:xfrm>
          <a:prstGeom prst="rect">
            <a:avLst/>
          </a:prstGeom>
        </p:spPr>
      </p:pic>
      <p:sp>
        <p:nvSpPr>
          <p:cNvPr id="10" name="Text Box 9"/>
          <p:cNvSpPr txBox="1"/>
          <p:nvPr/>
        </p:nvSpPr>
        <p:spPr>
          <a:xfrm>
            <a:off x="837565" y="4545330"/>
            <a:ext cx="9413240" cy="1647825"/>
          </a:xfrm>
          <a:prstGeom prst="rect">
            <a:avLst/>
          </a:prstGeom>
          <a:noFill/>
        </p:spPr>
        <p:txBody>
          <a:bodyPr wrap="square" rtlCol="0">
            <a:noAutofit/>
          </a:bodyPr>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RAG-based system shows a clear improvement in semantic similarity, with BERTScore increasing from 0.821 (Baseline) to 0.851</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Lexical similarity (ROUGE-L) also improves significantly, indicating better alignment with reference answers</a:t>
            </a:r>
            <a:endParaRPr lang="en-US" altLang="en-US">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combination of semantic and lexical gains demonstrates enhanced contextual understanding and response quality</a:t>
            </a:r>
            <a:r>
              <a:rPr lang="en-IN" altLang="en-US">
                <a:latin typeface="Times New Roman" panose="02020603050405020304" pitchFamily="18" charset="0"/>
                <a:cs typeface="Times New Roman" panose="02020603050405020304" pitchFamily="18" charset="0"/>
              </a:rPr>
              <a:t>.</a:t>
            </a:r>
            <a:endParaRPr lang="en-I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8200" y="226695"/>
            <a:ext cx="10515600" cy="1312545"/>
          </a:xfrm>
        </p:spPr>
        <p:txBody>
          <a:bodyPr/>
          <a:p>
            <a:pPr algn="ctr"/>
            <a:r>
              <a:rPr lang="en-US" altLang="en-US" b="1">
                <a:latin typeface="Calibri Light" panose="020F0302020204030204" charset="0"/>
                <a:cs typeface="Calibri Light" panose="020F0302020204030204" charset="0"/>
              </a:rPr>
              <a:t>Results obtained</a:t>
            </a:r>
            <a:endParaRPr lang="en-US" altLang="en-US" b="1">
              <a:latin typeface="Calibri Light" panose="020F0302020204030204" charset="0"/>
              <a:cs typeface="Calibri Light" panose="020F0302020204030204" charset="0"/>
            </a:endParaRPr>
          </a:p>
        </p:txBody>
      </p:sp>
      <p:pic>
        <p:nvPicPr>
          <p:cNvPr id="2" name="Picture 1" descr="judge_metrics_comparison_bar"/>
          <p:cNvPicPr>
            <a:picLocks noChangeAspect="1"/>
          </p:cNvPicPr>
          <p:nvPr/>
        </p:nvPicPr>
        <p:blipFill>
          <a:blip r:embed="rId1"/>
          <a:stretch>
            <a:fillRect/>
          </a:stretch>
        </p:blipFill>
        <p:spPr>
          <a:xfrm>
            <a:off x="1097280" y="1539240"/>
            <a:ext cx="5050790" cy="2946400"/>
          </a:xfrm>
          <a:prstGeom prst="rect">
            <a:avLst/>
          </a:prstGeom>
        </p:spPr>
      </p:pic>
      <p:sp>
        <p:nvSpPr>
          <p:cNvPr id="3" name="Text Box 2"/>
          <p:cNvSpPr txBox="1"/>
          <p:nvPr/>
        </p:nvSpPr>
        <p:spPr>
          <a:xfrm>
            <a:off x="1097280" y="4627245"/>
            <a:ext cx="9897110" cy="1591310"/>
          </a:xfrm>
          <a:prstGeom prst="rect">
            <a:avLst/>
          </a:prstGeom>
          <a:noFill/>
        </p:spPr>
        <p:txBody>
          <a:bodyPr wrap="square" rtlCol="0">
            <a:noAutofit/>
          </a:bodyPr>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RAG system outperforms the baseline across all qualitative metrics</a:t>
            </a:r>
            <a:r>
              <a:rPr lang="en-IN" altLang="en-US">
                <a:latin typeface="Times New Roman" panose="02020603050405020304" pitchFamily="18" charset="0"/>
                <a:cs typeface="Times New Roman" panose="02020603050405020304" pitchFamily="18" charset="0"/>
              </a:rPr>
              <a:t>.</a:t>
            </a: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Relevance improved from 4.04 → 4.56, showing better alignment with user queries</a:t>
            </a:r>
            <a:r>
              <a:rPr lang="en-IN" altLang="en-US">
                <a:latin typeface="Times New Roman" panose="02020603050405020304" pitchFamily="18" charset="0"/>
                <a:cs typeface="Times New Roman" panose="02020603050405020304" pitchFamily="18" charset="0"/>
              </a:rPr>
              <a:t>.</a:t>
            </a: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Accuracy increased from 2.88 → 3.96, indicating more correct responses</a:t>
            </a:r>
            <a:r>
              <a:rPr lang="en-IN" altLang="en-US">
                <a:latin typeface="Times New Roman" panose="02020603050405020304" pitchFamily="18" charset="0"/>
                <a:cs typeface="Times New Roman" panose="02020603050405020304" pitchFamily="18" charset="0"/>
              </a:rPr>
              <a:t>.</a:t>
            </a: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Groundedness improved significantly from 3.00 → 4.48, confirming reduced hallucinations</a:t>
            </a:r>
            <a:r>
              <a:rPr lang="en-IN" altLang="en-US">
                <a:latin typeface="Times New Roman" panose="02020603050405020304" pitchFamily="18" charset="0"/>
                <a:cs typeface="Times New Roman" panose="02020603050405020304" pitchFamily="18" charset="0"/>
              </a:rPr>
              <a:t>.</a:t>
            </a: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Completeness also improved, though slightly lower compared to other metrics</a:t>
            </a:r>
            <a:r>
              <a:rPr lang="en-IN" altLang="en-US">
                <a:latin typeface="Times New Roman" panose="02020603050405020304" pitchFamily="18" charset="0"/>
                <a:cs typeface="Times New Roman" panose="02020603050405020304" pitchFamily="18" charset="0"/>
              </a:rPr>
              <a:t>.</a:t>
            </a:r>
            <a:endParaRPr lang="en-IN" alt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6805295" y="1539240"/>
            <a:ext cx="4345305" cy="29222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8200" y="144145"/>
            <a:ext cx="10515600" cy="1218565"/>
          </a:xfrm>
        </p:spPr>
        <p:txBody>
          <a:bodyPr/>
          <a:p>
            <a:pPr algn="ctr"/>
            <a:r>
              <a:rPr lang="en-US" altLang="en-US" sz="3200" b="1">
                <a:latin typeface="Times New Roman" panose="02020603050405020304" pitchFamily="18" charset="0"/>
                <a:cs typeface="Times New Roman" panose="02020603050405020304" pitchFamily="18" charset="0"/>
              </a:rPr>
              <a:t>Result analysis with charts</a:t>
            </a:r>
            <a:endParaRPr lang="en-US" altLang="en-US" sz="3200" b="1">
              <a:latin typeface="Times New Roman" panose="02020603050405020304" pitchFamily="18" charset="0"/>
              <a:cs typeface="Times New Roman" panose="02020603050405020304" pitchFamily="18" charset="0"/>
            </a:endParaRPr>
          </a:p>
        </p:txBody>
      </p:sp>
      <p:pic>
        <p:nvPicPr>
          <p:cNvPr id="6" name="Picture 5" descr="bertscore_trend"/>
          <p:cNvPicPr>
            <a:picLocks noChangeAspect="1"/>
          </p:cNvPicPr>
          <p:nvPr/>
        </p:nvPicPr>
        <p:blipFill>
          <a:blip r:embed="rId1"/>
          <a:stretch>
            <a:fillRect/>
          </a:stretch>
        </p:blipFill>
        <p:spPr>
          <a:xfrm>
            <a:off x="2835910" y="1259840"/>
            <a:ext cx="6369050" cy="2653665"/>
          </a:xfrm>
          <a:prstGeom prst="rect">
            <a:avLst/>
          </a:prstGeom>
        </p:spPr>
      </p:pic>
      <p:sp>
        <p:nvSpPr>
          <p:cNvPr id="10" name="Text Box 9"/>
          <p:cNvSpPr txBox="1"/>
          <p:nvPr/>
        </p:nvSpPr>
        <p:spPr>
          <a:xfrm>
            <a:off x="1033780" y="4235450"/>
            <a:ext cx="8983345" cy="2030095"/>
          </a:xfrm>
          <a:prstGeom prst="rect">
            <a:avLst/>
          </a:prstGeom>
          <a:noFill/>
        </p:spPr>
        <p:txBody>
          <a:bodyPr wrap="square" rtlCol="0">
            <a:spAutoFit/>
          </a:bodyPr>
          <a:p>
            <a:pPr marL="2857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RAG system consistently outperforms the baseline across most evaluation queries</a:t>
            </a:r>
            <a:r>
              <a:rPr lang="en-IN" altLang="en-US">
                <a:latin typeface="Times New Roman" panose="02020603050405020304" pitchFamily="18" charset="0"/>
                <a:cs typeface="Times New Roman" panose="02020603050405020304" pitchFamily="18" charset="0"/>
              </a:rPr>
              <a:t>.</a:t>
            </a:r>
            <a:endParaRPr lang="en-US" altLang="en-US">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BERTScore trends indicate improved semantic understanding and contextual alignment</a:t>
            </a:r>
            <a:r>
              <a:rPr lang="en-IN" altLang="en-US">
                <a:latin typeface="Times New Roman" panose="02020603050405020304" pitchFamily="18" charset="0"/>
                <a:cs typeface="Times New Roman" panose="02020603050405020304" pitchFamily="18" charset="0"/>
              </a:rPr>
              <a:t>.</a:t>
            </a:r>
            <a:endParaRPr lang="en-US" altLang="en-US">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performance gap becomes more significant in complex queries, showing better handling of deeper context</a:t>
            </a:r>
            <a:r>
              <a:rPr lang="en-IN" altLang="en-US">
                <a:latin typeface="Times New Roman" panose="02020603050405020304" pitchFamily="18" charset="0"/>
                <a:cs typeface="Times New Roman" panose="02020603050405020304" pitchFamily="18" charset="0"/>
              </a:rPr>
              <a:t>.</a:t>
            </a:r>
            <a:endParaRPr lang="en-US" altLang="en-US">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ROUGE-L trends align with BERTScore improvements, confirming both semantic and lexical enhancement</a:t>
            </a:r>
            <a:r>
              <a:rPr lang="en-IN" altLang="en-US">
                <a:latin typeface="Times New Roman" panose="02020603050405020304" pitchFamily="18" charset="0"/>
                <a:cs typeface="Times New Roman" panose="02020603050405020304" pitchFamily="18" charset="0"/>
              </a:rPr>
              <a:t>.</a:t>
            </a:r>
            <a:endParaRPr lang="en-US" altLang="en-US">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Minor fluctuations indicate sensitivity to query complexity and document structure</a:t>
            </a:r>
            <a:r>
              <a:rPr lang="en-IN" altLang="en-US">
                <a:latin typeface="Times New Roman" panose="02020603050405020304" pitchFamily="18" charset="0"/>
                <a:cs typeface="Times New Roman" panose="02020603050405020304" pitchFamily="18" charset="0"/>
              </a:rPr>
              <a:t>.</a:t>
            </a:r>
            <a:endParaRPr lang="en-I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rPr>
              <a:t>Result analysis with charts</a:t>
            </a:r>
            <a:endParaRPr lang="en-US" altLang="en-US" sz="3200" b="1">
              <a:latin typeface="Times New Roman" panose="02020603050405020304" pitchFamily="18" charset="0"/>
              <a:cs typeface="Times New Roman" panose="02020603050405020304" pitchFamily="18" charset="0"/>
            </a:endParaRPr>
          </a:p>
        </p:txBody>
      </p:sp>
      <p:pic>
        <p:nvPicPr>
          <p:cNvPr id="2" name="Picture 1" descr="judge_metrics_trend"/>
          <p:cNvPicPr>
            <a:picLocks noChangeAspect="1"/>
          </p:cNvPicPr>
          <p:nvPr/>
        </p:nvPicPr>
        <p:blipFill>
          <a:blip r:embed="rId1"/>
          <a:stretch>
            <a:fillRect/>
          </a:stretch>
        </p:blipFill>
        <p:spPr>
          <a:xfrm>
            <a:off x="3084830" y="1452880"/>
            <a:ext cx="6022340" cy="2581275"/>
          </a:xfrm>
          <a:prstGeom prst="rect">
            <a:avLst/>
          </a:prstGeom>
        </p:spPr>
      </p:pic>
      <p:sp>
        <p:nvSpPr>
          <p:cNvPr id="3" name="Text Box 2"/>
          <p:cNvSpPr txBox="1"/>
          <p:nvPr/>
        </p:nvSpPr>
        <p:spPr>
          <a:xfrm>
            <a:off x="1368425" y="4280535"/>
            <a:ext cx="8383270" cy="1753235"/>
          </a:xfrm>
          <a:prstGeom prst="rect">
            <a:avLst/>
          </a:prstGeom>
          <a:noFill/>
        </p:spPr>
        <p:txBody>
          <a:bodyPr wrap="square" rtlCol="0">
            <a:spAutoFit/>
          </a:bodyPr>
          <a:p>
            <a:pPr marL="2857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RAG system demonstrates high consistency across evaluation metrics such as relevance and groundedness</a:t>
            </a:r>
            <a:endParaRPr lang="en-US" altLang="en-US">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Most responses achieve top scores, indicating stable and reliable performance</a:t>
            </a:r>
            <a:endParaRPr lang="en-US" altLang="en-US">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Significant improvement in groundedness confirms reduction in hallucinated outputs</a:t>
            </a:r>
            <a:endParaRPr lang="en-US" altLang="en-US">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Accuracy improvements show better factual correctness in generated responses</a:t>
            </a:r>
            <a:endParaRPr lang="en-US" altLang="en-US">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Variations in completeness suggest occasional trade-offs between brevity and detail</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rPr>
              <a:t>Conclusion and Future work</a:t>
            </a:r>
            <a:endParaRPr lang="en-US" altLang="en-US" sz="32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lnSpcReduction="10000"/>
          </a:bodyPr>
          <a:p>
            <a:pPr marL="0" indent="0" algn="just">
              <a:buNone/>
            </a:pPr>
            <a:r>
              <a:rPr lang="en-US" altLang="en-US" sz="1800" b="1">
                <a:latin typeface="Times New Roman" panose="02020603050405020304" pitchFamily="18" charset="0"/>
                <a:cs typeface="Times New Roman" panose="02020603050405020304" pitchFamily="18" charset="0"/>
              </a:rPr>
              <a:t>Conclusion</a:t>
            </a:r>
            <a:endParaRPr lang="en-US" altLang="en-US" sz="1800">
              <a:latin typeface="Times New Roman" panose="02020603050405020304" pitchFamily="18" charset="0"/>
              <a:cs typeface="Times New Roman" panose="02020603050405020304" pitchFamily="18" charset="0"/>
            </a:endParaRPr>
          </a:p>
          <a:p>
            <a:pPr marL="0" indent="0" algn="just">
              <a:buNone/>
            </a:pPr>
            <a:r>
              <a:rPr lang="en-US" altLang="en-US" sz="1800">
                <a:latin typeface="Times New Roman" panose="02020603050405020304" pitchFamily="18" charset="0"/>
                <a:cs typeface="Times New Roman" panose="02020603050405020304" pitchFamily="18" charset="0"/>
              </a:rPr>
              <a:t>The proposed Evaluation-Driven Retrieval-Augmented Generation framework effectively addresses the limitations of traditional Large Language Models in document-based question answering. By integrating semantic retrieval with LLM-based generation, the system produces context-aware and grounded responses directly from research documents. The inclusion of an evaluation layer further ensures the reliability of outputs by measuring semantic similarity, lexical overlap, and qualitative performance. Experimental results clearly demonstrate improvements in accuracy, relevance, and groundedness, while significantly reducing hallucinated responses.</a:t>
            </a:r>
            <a:endParaRPr lang="en-US" altLang="en-US" sz="1800">
              <a:latin typeface="Times New Roman" panose="02020603050405020304" pitchFamily="18" charset="0"/>
              <a:cs typeface="Times New Roman" panose="02020603050405020304" pitchFamily="18" charset="0"/>
            </a:endParaRPr>
          </a:p>
          <a:p>
            <a:pPr marL="0" indent="0" algn="just">
              <a:buNone/>
            </a:pPr>
            <a:r>
              <a:rPr lang="en-US" altLang="en-US" sz="1800" b="1">
                <a:latin typeface="Times New Roman" panose="02020603050405020304" pitchFamily="18" charset="0"/>
                <a:cs typeface="Times New Roman" panose="02020603050405020304" pitchFamily="18" charset="0"/>
              </a:rPr>
              <a:t>Future Work</a:t>
            </a:r>
            <a:endParaRPr lang="en-US" altLang="en-US" sz="1800" b="1">
              <a:latin typeface="Times New Roman" panose="02020603050405020304" pitchFamily="18" charset="0"/>
              <a:cs typeface="Times New Roman" panose="02020603050405020304" pitchFamily="18" charset="0"/>
            </a:endParaRPr>
          </a:p>
          <a:p>
            <a:pPr marL="0" indent="0" algn="just">
              <a:buNone/>
            </a:pPr>
            <a:r>
              <a:rPr lang="en-US" altLang="en-US" sz="1800">
                <a:latin typeface="Times New Roman" panose="02020603050405020304" pitchFamily="18" charset="0"/>
                <a:cs typeface="Times New Roman" panose="02020603050405020304" pitchFamily="18" charset="0"/>
              </a:rPr>
              <a:t>Future enhancements can focus on improving both the scalability and intelligence of the system. Extending the framework to support multi-document retrieval and cross-document reasoning would enable more comprehensive analysis of large datasets. Additionally, incorporating hybrid retrieval techniques and advanced embedding models can further enhance retrieval precision. Optimizing chunking strategies and system performance for real-time applications will also be important. These improvements can make the system more robust and suitable for practical deployment in academic and research environments.</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rPr>
              <a:t>References</a:t>
            </a:r>
            <a:endParaRPr lang="en-US" altLang="en-US" sz="32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60000"/>
          </a:bodyPr>
          <a:p>
            <a:pPr marL="0" indent="0" algn="just">
              <a:buNone/>
            </a:pPr>
            <a:r>
              <a:rPr lang="en-US" altLang="en-US">
                <a:latin typeface="Times New Roman" panose="02020603050405020304" pitchFamily="18" charset="0"/>
                <a:cs typeface="Times New Roman" panose="02020603050405020304" pitchFamily="18" charset="0"/>
              </a:rPr>
              <a:t>[1] P. Santiago García-Montero, P. Vizcaíno, I. Galo Reyes-Chacón and M. Eugenio Morocho-Cayamcela, “Legal AI for All: Reducing Perplexity and Boosting Accuracy in Normative Texts With Fine-Tuned LLMs and RAG,” IEEE Access, vol. 13, pp. 179759–179775, 2025, doi: 10.1109/ACCESS.2025.3622138.</a:t>
            </a:r>
            <a:endParaRPr lang="en-US" altLang="en-US">
              <a:latin typeface="Times New Roman" panose="02020603050405020304" pitchFamily="18" charset="0"/>
              <a:cs typeface="Times New Roman" panose="02020603050405020304" pitchFamily="18" charset="0"/>
            </a:endParaRPr>
          </a:p>
          <a:p>
            <a:pPr marL="0" indent="0" algn="just">
              <a:buNone/>
            </a:pP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[2] H. Tekgöz, H. Erdo</a:t>
            </a:r>
            <a:r>
              <a:rPr lang="en-US" altLang="en-US">
                <a:latin typeface="Times New Roman" panose="02020603050405020304" pitchFamily="18" charset="0"/>
                <a:cs typeface="Times New Roman" panose="02020603050405020304" pitchFamily="18" charset="0"/>
              </a:rPr>
              <a:t>ğ</a:t>
            </a:r>
            <a:r>
              <a:rPr lang="en-US" altLang="en-US">
                <a:latin typeface="Times New Roman" panose="02020603050405020304" pitchFamily="18" charset="0"/>
                <a:cs typeface="Times New Roman" panose="02020603050405020304" pitchFamily="18" charset="0"/>
              </a:rPr>
              <a:t>an, H. Uz and H. Alt</a:t>
            </a:r>
            <a:r>
              <a:rPr lang="en-US" altLang="en-US">
                <a:latin typeface="Times New Roman" panose="02020603050405020304" pitchFamily="18" charset="0"/>
                <a:cs typeface="Times New Roman" panose="02020603050405020304" pitchFamily="18" charset="0"/>
              </a:rPr>
              <a:t>ı</a:t>
            </a:r>
            <a:r>
              <a:rPr lang="en-US" altLang="en-US">
                <a:latin typeface="Times New Roman" panose="02020603050405020304" pitchFamily="18" charset="0"/>
                <a:cs typeface="Times New Roman" panose="02020603050405020304" pitchFamily="18" charset="0"/>
              </a:rPr>
              <a:t>nok, “Evaluation of Vector Database and LLM Models in Retrieval-Augmented Generation (RAG) Systems,” in Proceedings of the 2025 10th International Conference on Computer Science and Engineering (UBMK), Istanbul, Turkiye, 2025, pp. 572–576, doi: 10.1109/UBMK67458.2025.11206778.</a:t>
            </a:r>
            <a:endParaRPr lang="en-US" altLang="en-US">
              <a:latin typeface="Times New Roman" panose="02020603050405020304" pitchFamily="18" charset="0"/>
              <a:cs typeface="Times New Roman" panose="02020603050405020304" pitchFamily="18" charset="0"/>
            </a:endParaRPr>
          </a:p>
          <a:p>
            <a:pPr marL="0" indent="0" algn="just">
              <a:buNone/>
            </a:pP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[3] A. Sonkar, S. P. Singh, K. Sahu, A. Sahu and S. Mishra, “Dynamic Query Handling with RAG Fusion for PDF-Based Knowledge Retrieval Systems,” in Proceedings of the 2025 4th OPJU International Technology Conference (OTCON), Raigarh, India, 2025, pp. 1–6, doi: 10.1109/OTCON65728.2025.11070378.</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algn="ctr"/>
            <a:r>
              <a:rPr lang="en-US" altLang="en-US" sz="3200" b="1">
                <a:latin typeface="Times New Roman" panose="02020603050405020304" pitchFamily="18" charset="0"/>
                <a:cs typeface="Times New Roman" panose="02020603050405020304" pitchFamily="18" charset="0"/>
              </a:rPr>
              <a:t>References</a:t>
            </a:r>
            <a:endParaRPr lang="en-US" altLang="en-US" sz="3200" b="1">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p>
            <a:pPr marL="0" indent="0" algn="just">
              <a:buNone/>
            </a:pPr>
            <a:r>
              <a:rPr lang="en-US" altLang="en-US" sz="1700">
                <a:latin typeface="Times New Roman" panose="02020603050405020304" pitchFamily="18" charset="0"/>
                <a:cs typeface="Times New Roman" panose="02020603050405020304" pitchFamily="18" charset="0"/>
              </a:rPr>
              <a:t>[4] T. Koll, T. Babu and R. R. Nair, “Evaluating Hallucinations in Large Language Models (LLM): Metrics and Mitigation,” in Proceedings of the 2025 IEEE 6th India Council International Subsections Conference (INDISCON), Rourkela, India, 2025, pp. 1–7, doi: 10.1109/INDISCON66021.2025.11252341.</a:t>
            </a:r>
            <a:endParaRPr lang="en-US" altLang="en-US" sz="1700">
              <a:latin typeface="Times New Roman" panose="02020603050405020304" pitchFamily="18" charset="0"/>
              <a:cs typeface="Times New Roman" panose="02020603050405020304" pitchFamily="18" charset="0"/>
            </a:endParaRPr>
          </a:p>
          <a:p>
            <a:pPr marL="0" indent="0" algn="just">
              <a:buNone/>
            </a:pPr>
            <a:endParaRPr lang="en-US" altLang="en-US" sz="1700">
              <a:latin typeface="Times New Roman" panose="02020603050405020304" pitchFamily="18" charset="0"/>
              <a:cs typeface="Times New Roman" panose="02020603050405020304" pitchFamily="18" charset="0"/>
            </a:endParaRPr>
          </a:p>
          <a:p>
            <a:pPr marL="0" indent="0" algn="just">
              <a:buNone/>
            </a:pPr>
            <a:r>
              <a:rPr lang="en-US" altLang="en-US" sz="1700">
                <a:latin typeface="Times New Roman" panose="02020603050405020304" pitchFamily="18" charset="0"/>
                <a:cs typeface="Times New Roman" panose="02020603050405020304" pitchFamily="18" charset="0"/>
              </a:rPr>
              <a:t>[5] G. Regina Elwin J, R. Narayanan B, R. R. K. S and M. R, “AI-Driven Solution for Analyzing and Interpreting Data from PDFs and Other Textual Resources Using RAG and Hybrid Retrieval Models,” in Proceedings of the 2025 2nd International Conference on Research Methodologies in Knowledge Management, Artificial Intelligence and Telecommunication Engineering (RMKMATE), Chennai, India, 2025, pp. 1–6, doi: 10.1109/RMKMATE64874.2025.11042348.</a:t>
            </a:r>
            <a:endParaRPr lang="en-US" altLang="en-US" sz="1700">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TABLE_ENDDRAG_ORIGIN_RECT" val="828*314"/>
  <p:tag name="TABLE_ENDDRAG_RECT" val="66*143*828*314"/>
</p:tagLst>
</file>

<file path=ppt/tags/tag2.xml><?xml version="1.0" encoding="utf-8"?>
<p:tagLst xmlns:p="http://schemas.openxmlformats.org/presentationml/2006/main">
  <p:tag name="TABLE_ENDDRAG_ORIGIN_RECT" val="828*432"/>
  <p:tag name="TABLE_ENDDRAG_RECT" val="66*83*828*432"/>
</p:tagLst>
</file>

<file path=ppt/tags/tag3.xml><?xml version="1.0" encoding="utf-8"?>
<p:tagLst xmlns:p="http://schemas.openxmlformats.org/presentationml/2006/main">
  <p:tag name="TABLE_ENDDRAG_ORIGIN_RECT" val="828*317"/>
  <p:tag name="TABLE_ENDDRAG_RECT" val="66*143*828*31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13458</Words>
  <Application>WPS Presentation</Application>
  <PresentationFormat>Widescreen</PresentationFormat>
  <Paragraphs>268</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Arial</vt:lpstr>
      <vt:lpstr>SimSun</vt:lpstr>
      <vt:lpstr>Wingdings</vt:lpstr>
      <vt:lpstr>Times New Roman</vt:lpstr>
      <vt:lpstr>Calibri</vt:lpstr>
      <vt:lpstr>Microsoft YaHei</vt:lpstr>
      <vt:lpstr>Arial Unicode MS</vt:lpstr>
      <vt:lpstr>Calibri Light</vt:lpstr>
      <vt:lpstr>Office Theme</vt:lpstr>
      <vt:lpstr>Evaluation-Driven RAG Framework for Grounded Research Paper Analysis. Application Field : Academic Research  </vt:lpstr>
      <vt:lpstr>AGENDA</vt:lpstr>
      <vt:lpstr>INTRODUCTION</vt:lpstr>
      <vt:lpstr>PROBLEM STATEMENT</vt:lpstr>
      <vt:lpstr>Objectives and Outcomes of the Project</vt:lpstr>
      <vt:lpstr>Literature Review</vt:lpstr>
      <vt:lpstr>Literature Survey</vt:lpstr>
      <vt:lpstr>Literature Survey</vt:lpstr>
      <vt:lpstr>Dataset and RequirementsDataset</vt:lpstr>
      <vt:lpstr>Algorithms used in the Project</vt:lpstr>
      <vt:lpstr>Algorithms used in the Project</vt:lpstr>
      <vt:lpstr>Algorithms used in the Project</vt:lpstr>
      <vt:lpstr>Architecture/Project flow diagram </vt:lpstr>
      <vt:lpstr>Implementation steps </vt:lpstr>
      <vt:lpstr>Execution Flow</vt:lpstr>
      <vt:lpstr>Results obtained</vt:lpstr>
      <vt:lpstr>Results obtained</vt:lpstr>
      <vt:lpstr>Result analysis with charts</vt:lpstr>
      <vt:lpstr>Result analysis with charts</vt:lpstr>
      <vt:lpstr>Conclusion and Future work</vt:lpstr>
      <vt:lpstr>References</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sreek</dc:creator>
  <cp:lastModifiedBy>sreek</cp:lastModifiedBy>
  <cp:revision>67</cp:revision>
  <dcterms:created xsi:type="dcterms:W3CDTF">2025-07-23T00:59:00Z</dcterms:created>
  <dcterms:modified xsi:type="dcterms:W3CDTF">2026-04-20T01:22:21Z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AB8A392D41B44603A40392AFB3E25715_11</vt:lpwstr>
  </property>
  <property fmtid="{D5CDD505-2E9C-101B-9397-08002B2CF9AE}" pid="3" name="KSOProductBuildVer">
    <vt:lpwstr>1033-12.1.0.25830</vt:lpwstr>
  </property>
</Properties>
</file>